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96" y="6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9219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364A"/>
        </a:solidFill>
        <a:effectLst/>
      </p:bgPr>
    </p:bg>
    <p:spTree>
      <p:nvGrpSpPr>
        <p:cNvPr id="1" name=""/>
        <p:cNvGrpSpPr/>
        <p:nvPr/>
      </p:nvGrpSpPr>
      <p:grpSpPr>
        <a:xfrm>
          <a:off x="0" y="0"/>
          <a:ext cx="0" cy="0"/>
          <a:chOff x="0" y="0"/>
          <a:chExt cx="0" cy="0"/>
        </a:xfrm>
      </p:grpSpPr>
      <p:sp>
        <p:nvSpPr>
          <p:cNvPr id="2" name="Text 0"/>
          <p:cNvSpPr/>
          <p:nvPr/>
        </p:nvSpPr>
        <p:spPr>
          <a:xfrm>
            <a:off x="640080" y="1005840"/>
            <a:ext cx="6400800" cy="1234440"/>
          </a:xfrm>
          <a:prstGeom prst="rect">
            <a:avLst/>
          </a:prstGeom>
          <a:noFill/>
          <a:ln/>
        </p:spPr>
        <p:txBody>
          <a:bodyPr wrap="square" lIns="508" tIns="508" rIns="508" bIns="508" rtlCol="0" anchor="ctr">
            <a:normAutofit/>
          </a:bodyPr>
          <a:lstStyle/>
          <a:p>
            <a:pPr marL="0" indent="0">
              <a:buNone/>
            </a:pPr>
            <a:r>
              <a:rPr lang="en-US" sz="3500" b="1" dirty="0">
                <a:solidFill>
                  <a:srgbClr val="FFFFFF"/>
                </a:solidFill>
                <a:latin typeface="Aptos Display" pitchFamily="34" charset="0"/>
                <a:ea typeface="Aptos Display" pitchFamily="34" charset="-122"/>
                <a:cs typeface="Aptos Display" pitchFamily="34" charset="-120"/>
              </a:rPr>
              <a:t>The Technology</a:t>
            </a:r>
            <a:endParaRPr lang="en-US" sz="3500" dirty="0"/>
          </a:p>
          <a:p>
            <a:pPr marL="0" indent="0">
              <a:buNone/>
            </a:pPr>
            <a:r>
              <a:rPr lang="en-US" sz="3500" b="1" dirty="0">
                <a:solidFill>
                  <a:srgbClr val="FFFFFF"/>
                </a:solidFill>
                <a:latin typeface="Aptos Display" pitchFamily="34" charset="0"/>
                <a:ea typeface="Aptos Display" pitchFamily="34" charset="-122"/>
                <a:cs typeface="Aptos Display" pitchFamily="34" charset="-120"/>
              </a:rPr>
              <a:t>Value Stream</a:t>
            </a:r>
            <a:endParaRPr lang="en-US" sz="3500" dirty="0"/>
          </a:p>
        </p:txBody>
      </p:sp>
      <p:sp>
        <p:nvSpPr>
          <p:cNvPr id="3" name="Text 1"/>
          <p:cNvSpPr/>
          <p:nvPr/>
        </p:nvSpPr>
        <p:spPr>
          <a:xfrm>
            <a:off x="685800" y="2523744"/>
            <a:ext cx="5852160" cy="320040"/>
          </a:xfrm>
          <a:prstGeom prst="rect">
            <a:avLst/>
          </a:prstGeom>
          <a:noFill/>
          <a:ln/>
        </p:spPr>
        <p:txBody>
          <a:bodyPr wrap="square" lIns="508" tIns="508" rIns="508" bIns="508" rtlCol="0" anchor="ctr"/>
          <a:lstStyle/>
          <a:p>
            <a:pPr marL="0" indent="0">
              <a:buNone/>
            </a:pPr>
            <a:r>
              <a:rPr lang="en-US" sz="1500" dirty="0">
                <a:solidFill>
                  <a:srgbClr val="DCEDEA"/>
                </a:solidFill>
                <a:latin typeface="Aptos" pitchFamily="34" charset="0"/>
                <a:ea typeface="Aptos" pitchFamily="34" charset="-122"/>
                <a:cs typeface="Aptos" pitchFamily="34" charset="-120"/>
              </a:rPr>
              <a:t>CSD380 DevOps • Module 1.2 Assignment</a:t>
            </a:r>
            <a:endParaRPr lang="en-US" sz="1500" dirty="0"/>
          </a:p>
        </p:txBody>
      </p:sp>
      <p:sp>
        <p:nvSpPr>
          <p:cNvPr id="4" name="Shape 2"/>
          <p:cNvSpPr/>
          <p:nvPr/>
        </p:nvSpPr>
        <p:spPr>
          <a:xfrm>
            <a:off x="7726680" y="594360"/>
            <a:ext cx="3520440" cy="3520440"/>
          </a:xfrm>
          <a:prstGeom prst="arc">
            <a:avLst/>
          </a:prstGeom>
          <a:noFill/>
          <a:ln w="63500">
            <a:solidFill>
              <a:srgbClr val="2E7D7B">
                <a:alpha val="90000"/>
              </a:srgbClr>
            </a:solidFill>
            <a:prstDash val="solid"/>
          </a:ln>
        </p:spPr>
      </p:sp>
      <p:sp>
        <p:nvSpPr>
          <p:cNvPr id="5" name="Shape 3"/>
          <p:cNvSpPr/>
          <p:nvPr/>
        </p:nvSpPr>
        <p:spPr>
          <a:xfrm>
            <a:off x="8366760" y="1234440"/>
            <a:ext cx="2331720" cy="2331720"/>
          </a:xfrm>
          <a:prstGeom prst="arc">
            <a:avLst/>
          </a:prstGeom>
          <a:noFill/>
          <a:ln w="63500">
            <a:solidFill>
              <a:srgbClr val="E9A23B">
                <a:alpha val="95000"/>
              </a:srgbClr>
            </a:solidFill>
            <a:prstDash val="solid"/>
          </a:ln>
        </p:spPr>
      </p:sp>
      <p:sp>
        <p:nvSpPr>
          <p:cNvPr id="6" name="Shape 4"/>
          <p:cNvSpPr/>
          <p:nvPr/>
        </p:nvSpPr>
        <p:spPr>
          <a:xfrm>
            <a:off x="7315200" y="4754880"/>
            <a:ext cx="3977640" cy="0"/>
          </a:xfrm>
          <a:prstGeom prst="line">
            <a:avLst/>
          </a:prstGeom>
          <a:noFill/>
          <a:ln w="25400">
            <a:solidFill>
              <a:srgbClr val="FFFFFF"/>
            </a:solidFill>
            <a:prstDash val="solid"/>
            <a:headEnd type="none"/>
            <a:tailEnd type="triangle"/>
          </a:ln>
        </p:spPr>
      </p:sp>
      <p:sp>
        <p:nvSpPr>
          <p:cNvPr id="7" name="Shape 5"/>
          <p:cNvSpPr/>
          <p:nvPr/>
        </p:nvSpPr>
        <p:spPr>
          <a:xfrm>
            <a:off x="7360920" y="4507992"/>
            <a:ext cx="502920" cy="502920"/>
          </a:xfrm>
          <a:prstGeom prst="ellipse">
            <a:avLst/>
          </a:prstGeom>
          <a:solidFill>
            <a:srgbClr val="2E7D7B"/>
          </a:solidFill>
          <a:ln w="12700">
            <a:solidFill>
              <a:srgbClr val="FFFFFF"/>
            </a:solidFill>
            <a:prstDash val="solid"/>
          </a:ln>
        </p:spPr>
      </p:sp>
      <p:sp>
        <p:nvSpPr>
          <p:cNvPr id="8" name="Text 6"/>
          <p:cNvSpPr/>
          <p:nvPr/>
        </p:nvSpPr>
        <p:spPr>
          <a:xfrm>
            <a:off x="7104888" y="5138928"/>
            <a:ext cx="1005840" cy="228600"/>
          </a:xfrm>
          <a:prstGeom prst="rect">
            <a:avLst/>
          </a:prstGeom>
          <a:noFill/>
          <a:ln/>
        </p:spPr>
        <p:txBody>
          <a:bodyPr wrap="square" lIns="508" tIns="508" rIns="508" bIns="508" rtlCol="0" anchor="ctr"/>
          <a:lstStyle/>
          <a:p>
            <a:pPr marL="0" indent="0" algn="ctr">
              <a:buNone/>
            </a:pPr>
            <a:r>
              <a:rPr lang="en-US" sz="1050" dirty="0">
                <a:solidFill>
                  <a:srgbClr val="FFFFFF"/>
                </a:solidFill>
                <a:latin typeface="Aptos" pitchFamily="34" charset="0"/>
                <a:ea typeface="Aptos" pitchFamily="34" charset="-122"/>
                <a:cs typeface="Aptos" pitchFamily="34" charset="-120"/>
              </a:rPr>
              <a:t>Idea</a:t>
            </a:r>
            <a:endParaRPr lang="en-US" sz="1050" dirty="0"/>
          </a:p>
        </p:txBody>
      </p:sp>
      <p:sp>
        <p:nvSpPr>
          <p:cNvPr id="9" name="Shape 7"/>
          <p:cNvSpPr/>
          <p:nvPr/>
        </p:nvSpPr>
        <p:spPr>
          <a:xfrm>
            <a:off x="8595360" y="4507992"/>
            <a:ext cx="502920" cy="502920"/>
          </a:xfrm>
          <a:prstGeom prst="ellipse">
            <a:avLst/>
          </a:prstGeom>
          <a:solidFill>
            <a:srgbClr val="2E7D7B"/>
          </a:solidFill>
          <a:ln w="12700">
            <a:solidFill>
              <a:srgbClr val="FFFFFF"/>
            </a:solidFill>
            <a:prstDash val="solid"/>
          </a:ln>
        </p:spPr>
      </p:sp>
      <p:sp>
        <p:nvSpPr>
          <p:cNvPr id="10" name="Text 8"/>
          <p:cNvSpPr/>
          <p:nvPr/>
        </p:nvSpPr>
        <p:spPr>
          <a:xfrm>
            <a:off x="8339328" y="5138928"/>
            <a:ext cx="1005840" cy="228600"/>
          </a:xfrm>
          <a:prstGeom prst="rect">
            <a:avLst/>
          </a:prstGeom>
          <a:noFill/>
          <a:ln/>
        </p:spPr>
        <p:txBody>
          <a:bodyPr wrap="square" lIns="508" tIns="508" rIns="508" bIns="508" rtlCol="0" anchor="ctr"/>
          <a:lstStyle/>
          <a:p>
            <a:pPr marL="0" indent="0" algn="ctr">
              <a:buNone/>
            </a:pPr>
            <a:r>
              <a:rPr lang="en-US" sz="1050" dirty="0">
                <a:solidFill>
                  <a:srgbClr val="FFFFFF"/>
                </a:solidFill>
                <a:latin typeface="Aptos" pitchFamily="34" charset="0"/>
                <a:ea typeface="Aptos" pitchFamily="34" charset="-122"/>
                <a:cs typeface="Aptos" pitchFamily="34" charset="-120"/>
              </a:rPr>
              <a:t>Code</a:t>
            </a:r>
            <a:endParaRPr lang="en-US" sz="1050" dirty="0"/>
          </a:p>
        </p:txBody>
      </p:sp>
      <p:sp>
        <p:nvSpPr>
          <p:cNvPr id="11" name="Shape 9"/>
          <p:cNvSpPr/>
          <p:nvPr/>
        </p:nvSpPr>
        <p:spPr>
          <a:xfrm>
            <a:off x="9829800" y="4507992"/>
            <a:ext cx="502920" cy="502920"/>
          </a:xfrm>
          <a:prstGeom prst="ellipse">
            <a:avLst/>
          </a:prstGeom>
          <a:solidFill>
            <a:srgbClr val="2E7D7B"/>
          </a:solidFill>
          <a:ln w="12700">
            <a:solidFill>
              <a:srgbClr val="FFFFFF"/>
            </a:solidFill>
            <a:prstDash val="solid"/>
          </a:ln>
        </p:spPr>
      </p:sp>
      <p:sp>
        <p:nvSpPr>
          <p:cNvPr id="12" name="Text 10"/>
          <p:cNvSpPr/>
          <p:nvPr/>
        </p:nvSpPr>
        <p:spPr>
          <a:xfrm>
            <a:off x="9573768" y="5138928"/>
            <a:ext cx="1005840" cy="228600"/>
          </a:xfrm>
          <a:prstGeom prst="rect">
            <a:avLst/>
          </a:prstGeom>
          <a:noFill/>
          <a:ln/>
        </p:spPr>
        <p:txBody>
          <a:bodyPr wrap="square" lIns="508" tIns="508" rIns="508" bIns="508" rtlCol="0" anchor="ctr"/>
          <a:lstStyle/>
          <a:p>
            <a:pPr marL="0" indent="0" algn="ctr">
              <a:buNone/>
            </a:pPr>
            <a:r>
              <a:rPr lang="en-US" sz="1050" dirty="0">
                <a:solidFill>
                  <a:srgbClr val="FFFFFF"/>
                </a:solidFill>
                <a:latin typeface="Aptos" pitchFamily="34" charset="0"/>
                <a:ea typeface="Aptos" pitchFamily="34" charset="-122"/>
                <a:cs typeface="Aptos" pitchFamily="34" charset="-120"/>
              </a:rPr>
              <a:t>Test</a:t>
            </a:r>
            <a:endParaRPr lang="en-US" sz="1050" dirty="0"/>
          </a:p>
        </p:txBody>
      </p:sp>
      <p:sp>
        <p:nvSpPr>
          <p:cNvPr id="13" name="Shape 11"/>
          <p:cNvSpPr/>
          <p:nvPr/>
        </p:nvSpPr>
        <p:spPr>
          <a:xfrm>
            <a:off x="11064240" y="4507992"/>
            <a:ext cx="502920" cy="502920"/>
          </a:xfrm>
          <a:prstGeom prst="ellipse">
            <a:avLst/>
          </a:prstGeom>
          <a:solidFill>
            <a:srgbClr val="E9A23B"/>
          </a:solidFill>
          <a:ln w="12700">
            <a:solidFill>
              <a:srgbClr val="FFFFFF"/>
            </a:solidFill>
            <a:prstDash val="solid"/>
          </a:ln>
        </p:spPr>
      </p:sp>
      <p:sp>
        <p:nvSpPr>
          <p:cNvPr id="14" name="Text 12"/>
          <p:cNvSpPr/>
          <p:nvPr/>
        </p:nvSpPr>
        <p:spPr>
          <a:xfrm>
            <a:off x="10808208" y="5138928"/>
            <a:ext cx="1005840" cy="228600"/>
          </a:xfrm>
          <a:prstGeom prst="rect">
            <a:avLst/>
          </a:prstGeom>
          <a:noFill/>
          <a:ln/>
        </p:spPr>
        <p:txBody>
          <a:bodyPr wrap="square" lIns="508" tIns="508" rIns="508" bIns="508" rtlCol="0" anchor="ctr"/>
          <a:lstStyle/>
          <a:p>
            <a:pPr marL="0" indent="0" algn="ctr">
              <a:buNone/>
            </a:pPr>
            <a:r>
              <a:rPr lang="en-US" sz="1050" dirty="0">
                <a:solidFill>
                  <a:srgbClr val="FFFFFF"/>
                </a:solidFill>
                <a:latin typeface="Aptos" pitchFamily="34" charset="0"/>
                <a:ea typeface="Aptos" pitchFamily="34" charset="-122"/>
                <a:cs typeface="Aptos" pitchFamily="34" charset="-120"/>
              </a:rPr>
              <a:t>Deploy</a:t>
            </a:r>
            <a:endParaRPr lang="en-US" sz="1050" dirty="0"/>
          </a:p>
        </p:txBody>
      </p:sp>
      <p:sp>
        <p:nvSpPr>
          <p:cNvPr id="15" name="Text 13"/>
          <p:cNvSpPr/>
          <p:nvPr/>
        </p:nvSpPr>
        <p:spPr>
          <a:xfrm>
            <a:off x="685800" y="6126480"/>
            <a:ext cx="3657600" cy="274320"/>
          </a:xfrm>
          <a:prstGeom prst="rect">
            <a:avLst/>
          </a:prstGeom>
          <a:noFill/>
          <a:ln/>
        </p:spPr>
        <p:txBody>
          <a:bodyPr wrap="square" lIns="508" tIns="508" rIns="508" bIns="508" rtlCol="0" anchor="ctr"/>
          <a:lstStyle/>
          <a:p>
            <a:pPr marL="0" indent="0">
              <a:buNone/>
            </a:pPr>
            <a:r>
              <a:rPr lang="en-US" sz="1200" dirty="0">
                <a:solidFill>
                  <a:srgbClr val="DCEDEA"/>
                </a:solidFill>
                <a:latin typeface="Aptos" pitchFamily="34" charset="0"/>
                <a:ea typeface="Aptos" pitchFamily="34" charset="-122"/>
                <a:cs typeface="Aptos" pitchFamily="34" charset="-120"/>
              </a:rPr>
              <a:t>Author: Zak Nizam</a:t>
            </a:r>
          </a:p>
          <a:p>
            <a:pPr marL="0" indent="0">
              <a:buNone/>
            </a:pPr>
            <a:r>
              <a:rPr lang="en-US" sz="1200" dirty="0">
                <a:solidFill>
                  <a:srgbClr val="DCEDEA"/>
                </a:solidFill>
                <a:latin typeface="Aptos" pitchFamily="34" charset="0"/>
              </a:rPr>
              <a:t>Date: 11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What Is the Technology Value Stream?</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The path an idea takes from request to running software</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Text 3"/>
          <p:cNvSpPr/>
          <p:nvPr/>
        </p:nvSpPr>
        <p:spPr>
          <a:xfrm>
            <a:off x="658368" y="1463040"/>
            <a:ext cx="5166360" cy="1143000"/>
          </a:xfrm>
          <a:prstGeom prst="rect">
            <a:avLst/>
          </a:prstGeom>
          <a:noFill/>
          <a:ln/>
        </p:spPr>
        <p:txBody>
          <a:bodyPr wrap="square" lIns="508" tIns="508" rIns="508" bIns="508" rtlCol="0" anchor="ctr">
            <a:normAutofit/>
          </a:bodyPr>
          <a:lstStyle/>
          <a:p>
            <a:pPr marL="0" indent="0">
              <a:buNone/>
            </a:pPr>
            <a:r>
              <a:rPr lang="en-US" sz="1800" dirty="0">
                <a:solidFill>
                  <a:srgbClr val="102A43"/>
                </a:solidFill>
                <a:latin typeface="Aptos" pitchFamily="34" charset="0"/>
                <a:ea typeface="Aptos" pitchFamily="34" charset="-122"/>
                <a:cs typeface="Aptos" pitchFamily="34" charset="-120"/>
              </a:rPr>
              <a:t>A value stream is the full sequence of work needed to deliver value to a customer. In DevOps, that value is usually a software change moving from an idea or ticket into production.</a:t>
            </a:r>
            <a:endParaRPr lang="en-US" sz="1800" dirty="0"/>
          </a:p>
        </p:txBody>
      </p:sp>
      <p:sp>
        <p:nvSpPr>
          <p:cNvPr id="6" name="Text 4"/>
          <p:cNvSpPr/>
          <p:nvPr/>
        </p:nvSpPr>
        <p:spPr>
          <a:xfrm>
            <a:off x="658368" y="2816352"/>
            <a:ext cx="5166360" cy="1234440"/>
          </a:xfrm>
          <a:prstGeom prst="rect">
            <a:avLst/>
          </a:prstGeom>
          <a:noFill/>
          <a:ln/>
        </p:spPr>
        <p:txBody>
          <a:bodyPr wrap="square" lIns="508" tIns="508" rIns="508" bIns="508" rtlCol="0" anchor="ctr">
            <a:normAutofit/>
          </a:bodyPr>
          <a:lstStyle/>
          <a:p>
            <a:pPr marL="0" indent="0">
              <a:buNone/>
            </a:pPr>
            <a:r>
              <a:rPr lang="en-US" sz="1800" dirty="0">
                <a:solidFill>
                  <a:srgbClr val="102A43"/>
                </a:solidFill>
                <a:latin typeface="Aptos" pitchFamily="34" charset="0"/>
                <a:ea typeface="Aptos" pitchFamily="34" charset="-122"/>
                <a:cs typeface="Aptos" pitchFamily="34" charset="-120"/>
              </a:rPr>
              <a:t>The focus is not only on how fast a developer writes code. It is the complete delivery system: planning, coding, review, testing, approvals, deployment, and feedback.</a:t>
            </a:r>
            <a:endParaRPr lang="en-US" sz="1800" dirty="0"/>
          </a:p>
        </p:txBody>
      </p:sp>
      <p:sp>
        <p:nvSpPr>
          <p:cNvPr id="7" name="Shape 5"/>
          <p:cNvSpPr/>
          <p:nvPr/>
        </p:nvSpPr>
        <p:spPr>
          <a:xfrm>
            <a:off x="6355080" y="2788920"/>
            <a:ext cx="5029200" cy="0"/>
          </a:xfrm>
          <a:prstGeom prst="line">
            <a:avLst/>
          </a:prstGeom>
          <a:noFill/>
          <a:ln w="25400">
            <a:solidFill>
              <a:srgbClr val="52606D"/>
            </a:solidFill>
            <a:prstDash val="solid"/>
            <a:tailEnd type="triangle"/>
          </a:ln>
        </p:spPr>
      </p:sp>
      <p:sp>
        <p:nvSpPr>
          <p:cNvPr id="8" name="Shape 6"/>
          <p:cNvSpPr/>
          <p:nvPr/>
        </p:nvSpPr>
        <p:spPr>
          <a:xfrm>
            <a:off x="6217920" y="2468880"/>
            <a:ext cx="621792" cy="621792"/>
          </a:xfrm>
          <a:prstGeom prst="ellipse">
            <a:avLst/>
          </a:prstGeom>
          <a:solidFill>
            <a:srgbClr val="2E7D7B"/>
          </a:solidFill>
          <a:ln w="15240">
            <a:solidFill>
              <a:srgbClr val="FFFFFF"/>
            </a:solidFill>
            <a:prstDash val="solid"/>
          </a:ln>
        </p:spPr>
      </p:sp>
      <p:sp>
        <p:nvSpPr>
          <p:cNvPr id="9" name="Text 7"/>
          <p:cNvSpPr/>
          <p:nvPr/>
        </p:nvSpPr>
        <p:spPr>
          <a:xfrm>
            <a:off x="6007608" y="3246120"/>
            <a:ext cx="1042416" cy="256032"/>
          </a:xfrm>
          <a:prstGeom prst="rect">
            <a:avLst/>
          </a:prstGeom>
          <a:noFill/>
          <a:ln/>
        </p:spPr>
        <p:txBody>
          <a:bodyPr wrap="square" lIns="508" tIns="508" rIns="508" bIns="508" rtlCol="0" anchor="ctr"/>
          <a:lstStyle/>
          <a:p>
            <a:pPr marL="0" indent="0" algn="ctr">
              <a:buNone/>
            </a:pPr>
            <a:r>
              <a:rPr lang="en-US" sz="1050" dirty="0">
                <a:solidFill>
                  <a:srgbClr val="102A43"/>
                </a:solidFill>
                <a:latin typeface="Aptos" pitchFamily="34" charset="0"/>
                <a:ea typeface="Aptos" pitchFamily="34" charset="-122"/>
                <a:cs typeface="Aptos" pitchFamily="34" charset="-120"/>
              </a:rPr>
              <a:t>Request</a:t>
            </a:r>
            <a:endParaRPr lang="en-US" sz="1050" dirty="0"/>
          </a:p>
        </p:txBody>
      </p:sp>
      <p:sp>
        <p:nvSpPr>
          <p:cNvPr id="10" name="Shape 8"/>
          <p:cNvSpPr/>
          <p:nvPr/>
        </p:nvSpPr>
        <p:spPr>
          <a:xfrm>
            <a:off x="7406640" y="2468880"/>
            <a:ext cx="621792" cy="621792"/>
          </a:xfrm>
          <a:prstGeom prst="ellipse">
            <a:avLst/>
          </a:prstGeom>
          <a:solidFill>
            <a:srgbClr val="2E7D7B"/>
          </a:solidFill>
          <a:ln w="15240">
            <a:solidFill>
              <a:srgbClr val="FFFFFF"/>
            </a:solidFill>
            <a:prstDash val="solid"/>
          </a:ln>
        </p:spPr>
      </p:sp>
      <p:sp>
        <p:nvSpPr>
          <p:cNvPr id="11" name="Text 9"/>
          <p:cNvSpPr/>
          <p:nvPr/>
        </p:nvSpPr>
        <p:spPr>
          <a:xfrm>
            <a:off x="7196328" y="3246120"/>
            <a:ext cx="1042416" cy="256032"/>
          </a:xfrm>
          <a:prstGeom prst="rect">
            <a:avLst/>
          </a:prstGeom>
          <a:noFill/>
          <a:ln/>
        </p:spPr>
        <p:txBody>
          <a:bodyPr wrap="square" lIns="508" tIns="508" rIns="508" bIns="508" rtlCol="0" anchor="ctr"/>
          <a:lstStyle/>
          <a:p>
            <a:pPr marL="0" indent="0" algn="ctr">
              <a:buNone/>
            </a:pPr>
            <a:r>
              <a:rPr lang="en-US" sz="1050" dirty="0">
                <a:solidFill>
                  <a:srgbClr val="102A43"/>
                </a:solidFill>
                <a:latin typeface="Aptos" pitchFamily="34" charset="0"/>
                <a:ea typeface="Aptos" pitchFamily="34" charset="-122"/>
                <a:cs typeface="Aptos" pitchFamily="34" charset="-120"/>
              </a:rPr>
              <a:t>Develop</a:t>
            </a:r>
            <a:endParaRPr lang="en-US" sz="1050" dirty="0"/>
          </a:p>
        </p:txBody>
      </p:sp>
      <p:sp>
        <p:nvSpPr>
          <p:cNvPr id="12" name="Shape 10"/>
          <p:cNvSpPr/>
          <p:nvPr/>
        </p:nvSpPr>
        <p:spPr>
          <a:xfrm>
            <a:off x="8595360" y="2468880"/>
            <a:ext cx="621792" cy="621792"/>
          </a:xfrm>
          <a:prstGeom prst="ellipse">
            <a:avLst/>
          </a:prstGeom>
          <a:solidFill>
            <a:srgbClr val="E9A23B"/>
          </a:solidFill>
          <a:ln w="15240">
            <a:solidFill>
              <a:srgbClr val="FFFFFF"/>
            </a:solidFill>
            <a:prstDash val="solid"/>
          </a:ln>
        </p:spPr>
      </p:sp>
      <p:sp>
        <p:nvSpPr>
          <p:cNvPr id="13" name="Text 11"/>
          <p:cNvSpPr/>
          <p:nvPr/>
        </p:nvSpPr>
        <p:spPr>
          <a:xfrm>
            <a:off x="8385048" y="3246120"/>
            <a:ext cx="1042416" cy="256032"/>
          </a:xfrm>
          <a:prstGeom prst="rect">
            <a:avLst/>
          </a:prstGeom>
          <a:noFill/>
          <a:ln/>
        </p:spPr>
        <p:txBody>
          <a:bodyPr wrap="square" lIns="508" tIns="508" rIns="508" bIns="508" rtlCol="0" anchor="ctr"/>
          <a:lstStyle/>
          <a:p>
            <a:pPr marL="0" indent="0" algn="ctr">
              <a:buNone/>
            </a:pPr>
            <a:r>
              <a:rPr lang="en-US" sz="1050" dirty="0">
                <a:solidFill>
                  <a:srgbClr val="102A43"/>
                </a:solidFill>
                <a:latin typeface="Aptos" pitchFamily="34" charset="0"/>
                <a:ea typeface="Aptos" pitchFamily="34" charset="-122"/>
                <a:cs typeface="Aptos" pitchFamily="34" charset="-120"/>
              </a:rPr>
              <a:t>Test</a:t>
            </a:r>
            <a:endParaRPr lang="en-US" sz="1050" dirty="0"/>
          </a:p>
        </p:txBody>
      </p:sp>
      <p:sp>
        <p:nvSpPr>
          <p:cNvPr id="14" name="Shape 12"/>
          <p:cNvSpPr/>
          <p:nvPr/>
        </p:nvSpPr>
        <p:spPr>
          <a:xfrm>
            <a:off x="9784080" y="2468880"/>
            <a:ext cx="621792" cy="621792"/>
          </a:xfrm>
          <a:prstGeom prst="ellipse">
            <a:avLst/>
          </a:prstGeom>
          <a:solidFill>
            <a:srgbClr val="D96C3B"/>
          </a:solidFill>
          <a:ln w="15240">
            <a:solidFill>
              <a:srgbClr val="FFFFFF"/>
            </a:solidFill>
            <a:prstDash val="solid"/>
          </a:ln>
        </p:spPr>
      </p:sp>
      <p:sp>
        <p:nvSpPr>
          <p:cNvPr id="15" name="Text 13"/>
          <p:cNvSpPr/>
          <p:nvPr/>
        </p:nvSpPr>
        <p:spPr>
          <a:xfrm>
            <a:off x="9573768" y="3246120"/>
            <a:ext cx="1042416" cy="256032"/>
          </a:xfrm>
          <a:prstGeom prst="rect">
            <a:avLst/>
          </a:prstGeom>
          <a:noFill/>
          <a:ln/>
        </p:spPr>
        <p:txBody>
          <a:bodyPr wrap="square" lIns="508" tIns="508" rIns="508" bIns="508" rtlCol="0" anchor="ctr"/>
          <a:lstStyle/>
          <a:p>
            <a:pPr marL="0" indent="0" algn="ctr">
              <a:buNone/>
            </a:pPr>
            <a:r>
              <a:rPr lang="en-US" sz="1050" dirty="0">
                <a:solidFill>
                  <a:srgbClr val="102A43"/>
                </a:solidFill>
                <a:latin typeface="Aptos" pitchFamily="34" charset="0"/>
                <a:ea typeface="Aptos" pitchFamily="34" charset="-122"/>
                <a:cs typeface="Aptos" pitchFamily="34" charset="-120"/>
              </a:rPr>
              <a:t>Deploy</a:t>
            </a:r>
            <a:endParaRPr lang="en-US" sz="1050" dirty="0"/>
          </a:p>
        </p:txBody>
      </p:sp>
      <p:sp>
        <p:nvSpPr>
          <p:cNvPr id="16" name="Shape 14"/>
          <p:cNvSpPr/>
          <p:nvPr/>
        </p:nvSpPr>
        <p:spPr>
          <a:xfrm>
            <a:off x="10881360" y="2468880"/>
            <a:ext cx="621792" cy="621792"/>
          </a:xfrm>
          <a:prstGeom prst="ellipse">
            <a:avLst/>
          </a:prstGeom>
          <a:solidFill>
            <a:srgbClr val="2E7D7B"/>
          </a:solidFill>
          <a:ln w="15240">
            <a:solidFill>
              <a:srgbClr val="FFFFFF"/>
            </a:solidFill>
            <a:prstDash val="solid"/>
          </a:ln>
        </p:spPr>
      </p:sp>
      <p:sp>
        <p:nvSpPr>
          <p:cNvPr id="17" name="Text 15"/>
          <p:cNvSpPr/>
          <p:nvPr/>
        </p:nvSpPr>
        <p:spPr>
          <a:xfrm>
            <a:off x="10671048" y="3246120"/>
            <a:ext cx="1042416" cy="256032"/>
          </a:xfrm>
          <a:prstGeom prst="rect">
            <a:avLst/>
          </a:prstGeom>
          <a:noFill/>
          <a:ln/>
        </p:spPr>
        <p:txBody>
          <a:bodyPr wrap="square" lIns="508" tIns="508" rIns="508" bIns="508" rtlCol="0" anchor="ctr"/>
          <a:lstStyle/>
          <a:p>
            <a:pPr marL="0" indent="0" algn="ctr">
              <a:buNone/>
            </a:pPr>
            <a:r>
              <a:rPr lang="en-US" sz="1050" dirty="0">
                <a:solidFill>
                  <a:srgbClr val="102A43"/>
                </a:solidFill>
                <a:latin typeface="Aptos" pitchFamily="34" charset="0"/>
                <a:ea typeface="Aptos" pitchFamily="34" charset="-122"/>
                <a:cs typeface="Aptos" pitchFamily="34" charset="-120"/>
              </a:rPr>
              <a:t>Feedback</a:t>
            </a:r>
            <a:endParaRPr lang="en-US" sz="1050" dirty="0"/>
          </a:p>
        </p:txBody>
      </p:sp>
      <p:sp>
        <p:nvSpPr>
          <p:cNvPr id="18" name="Text 16"/>
          <p:cNvSpPr/>
          <p:nvPr/>
        </p:nvSpPr>
        <p:spPr>
          <a:xfrm>
            <a:off x="6400800" y="3977640"/>
            <a:ext cx="4663440" cy="640080"/>
          </a:xfrm>
          <a:prstGeom prst="rect">
            <a:avLst/>
          </a:prstGeom>
          <a:noFill/>
          <a:ln/>
        </p:spPr>
        <p:txBody>
          <a:bodyPr wrap="square" lIns="508" tIns="508" rIns="508" bIns="508" rtlCol="0" anchor="ctr"/>
          <a:lstStyle/>
          <a:p>
            <a:pPr marL="0" indent="0" algn="ctr">
              <a:buNone/>
            </a:pPr>
            <a:r>
              <a:rPr lang="en-US" sz="1900" b="1" dirty="0">
                <a:solidFill>
                  <a:srgbClr val="20364A"/>
                </a:solidFill>
                <a:latin typeface="Aptos" pitchFamily="34" charset="0"/>
                <a:ea typeface="Aptos" pitchFamily="34" charset="-122"/>
                <a:cs typeface="Aptos" pitchFamily="34" charset="-120"/>
              </a:rPr>
              <a:t>The value stream makes waiting, handoffs, and rework visible.</a:t>
            </a:r>
            <a:endParaRPr lang="en-US" sz="1900" dirty="0"/>
          </a:p>
        </p:txBody>
      </p:sp>
      <p:sp>
        <p:nvSpPr>
          <p:cNvPr id="19" name="Text 17"/>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Sources: Kim et al., 2021; DevOps Handbook excerpt, IT Revolution; DevOps Institute, 2019.</a:t>
            </a:r>
            <a:endParaRPr lang="en-US" sz="7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Lead Time vs. Processing Time</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The textbook separates total waiting time from active work time</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Shape 3"/>
          <p:cNvSpPr/>
          <p:nvPr/>
        </p:nvSpPr>
        <p:spPr>
          <a:xfrm>
            <a:off x="685800" y="1572768"/>
            <a:ext cx="4983480" cy="3566160"/>
          </a:xfrm>
          <a:prstGeom prst="rect">
            <a:avLst/>
          </a:prstGeom>
          <a:solidFill>
            <a:srgbClr val="FFFFFF"/>
          </a:solidFill>
          <a:ln w="12700">
            <a:solidFill>
              <a:srgbClr val="D9E2EC"/>
            </a:solidFill>
            <a:prstDash val="solid"/>
          </a:ln>
        </p:spPr>
      </p:sp>
      <p:sp>
        <p:nvSpPr>
          <p:cNvPr id="6" name="Shape 4"/>
          <p:cNvSpPr/>
          <p:nvPr/>
        </p:nvSpPr>
        <p:spPr>
          <a:xfrm>
            <a:off x="6492240" y="1572768"/>
            <a:ext cx="4983480" cy="3566160"/>
          </a:xfrm>
          <a:prstGeom prst="rect">
            <a:avLst/>
          </a:prstGeom>
          <a:solidFill>
            <a:srgbClr val="FFFFFF"/>
          </a:solidFill>
          <a:ln w="12700">
            <a:solidFill>
              <a:srgbClr val="D9E2EC"/>
            </a:solidFill>
            <a:prstDash val="solid"/>
          </a:ln>
        </p:spPr>
      </p:sp>
      <p:sp>
        <p:nvSpPr>
          <p:cNvPr id="7" name="Shape 5"/>
          <p:cNvSpPr/>
          <p:nvPr/>
        </p:nvSpPr>
        <p:spPr>
          <a:xfrm>
            <a:off x="941832" y="1810512"/>
            <a:ext cx="1508760" cy="347472"/>
          </a:xfrm>
          <a:prstGeom prst="roundRect">
            <a:avLst>
              <a:gd name="adj" fmla="val 21053"/>
            </a:avLst>
          </a:prstGeom>
          <a:solidFill>
            <a:srgbClr val="20364A"/>
          </a:solidFill>
          <a:ln w="12700">
            <a:solidFill>
              <a:srgbClr val="20364A"/>
            </a:solidFill>
            <a:prstDash val="solid"/>
          </a:ln>
        </p:spPr>
      </p:sp>
      <p:sp>
        <p:nvSpPr>
          <p:cNvPr id="8" name="Text 6"/>
          <p:cNvSpPr/>
          <p:nvPr/>
        </p:nvSpPr>
        <p:spPr>
          <a:xfrm>
            <a:off x="1014984" y="1865376"/>
            <a:ext cx="1362456" cy="274320"/>
          </a:xfrm>
          <a:prstGeom prst="rect">
            <a:avLst/>
          </a:prstGeom>
          <a:noFill/>
          <a:ln/>
        </p:spPr>
        <p:txBody>
          <a:bodyPr wrap="square" lIns="508" tIns="508" rIns="508" bIns="508"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LEAD TIME</a:t>
            </a:r>
            <a:endParaRPr lang="en-US" sz="1050" dirty="0"/>
          </a:p>
        </p:txBody>
      </p:sp>
      <p:sp>
        <p:nvSpPr>
          <p:cNvPr id="9" name="Shape 7"/>
          <p:cNvSpPr/>
          <p:nvPr/>
        </p:nvSpPr>
        <p:spPr>
          <a:xfrm>
            <a:off x="6748272" y="1810512"/>
            <a:ext cx="2148840" cy="347472"/>
          </a:xfrm>
          <a:prstGeom prst="roundRect">
            <a:avLst>
              <a:gd name="adj" fmla="val 21053"/>
            </a:avLst>
          </a:prstGeom>
          <a:solidFill>
            <a:srgbClr val="2E7D7B"/>
          </a:solidFill>
          <a:ln w="12700">
            <a:solidFill>
              <a:srgbClr val="2E7D7B"/>
            </a:solidFill>
            <a:prstDash val="solid"/>
          </a:ln>
        </p:spPr>
      </p:sp>
      <p:sp>
        <p:nvSpPr>
          <p:cNvPr id="10" name="Text 8"/>
          <p:cNvSpPr/>
          <p:nvPr/>
        </p:nvSpPr>
        <p:spPr>
          <a:xfrm>
            <a:off x="6821424" y="1865376"/>
            <a:ext cx="2002536" cy="274320"/>
          </a:xfrm>
          <a:prstGeom prst="rect">
            <a:avLst/>
          </a:prstGeom>
          <a:noFill/>
          <a:ln/>
        </p:spPr>
        <p:txBody>
          <a:bodyPr wrap="square" lIns="508" tIns="508" rIns="508" bIns="508" rtlCol="0" anchor="ctr"/>
          <a:lstStyle/>
          <a:p>
            <a:pPr marL="0" indent="0" algn="ctr">
              <a:buNone/>
            </a:pPr>
            <a:r>
              <a:rPr lang="en-US" sz="1050" b="1" dirty="0">
                <a:solidFill>
                  <a:srgbClr val="FFFFFF"/>
                </a:solidFill>
                <a:latin typeface="Aptos" pitchFamily="34" charset="0"/>
                <a:ea typeface="Aptos" pitchFamily="34" charset="-122"/>
                <a:cs typeface="Aptos" pitchFamily="34" charset="-120"/>
              </a:rPr>
              <a:t>PROCESSING TIME</a:t>
            </a:r>
            <a:endParaRPr lang="en-US" sz="1050" dirty="0"/>
          </a:p>
        </p:txBody>
      </p:sp>
      <p:sp>
        <p:nvSpPr>
          <p:cNvPr id="11" name="Text 9"/>
          <p:cNvSpPr/>
          <p:nvPr/>
        </p:nvSpPr>
        <p:spPr>
          <a:xfrm>
            <a:off x="960120" y="2423160"/>
            <a:ext cx="4297680" cy="731520"/>
          </a:xfrm>
          <a:prstGeom prst="rect">
            <a:avLst/>
          </a:prstGeom>
          <a:noFill/>
          <a:ln/>
        </p:spPr>
        <p:txBody>
          <a:bodyPr wrap="square" lIns="508" tIns="508" rIns="508" bIns="508" rtlCol="0" anchor="ctr">
            <a:normAutofit fontScale="92500"/>
          </a:bodyPr>
          <a:lstStyle/>
          <a:p>
            <a:pPr marL="0" indent="0">
              <a:buNone/>
            </a:pPr>
            <a:r>
              <a:rPr lang="en-US" sz="2000" b="1" dirty="0">
                <a:solidFill>
                  <a:srgbClr val="20364A"/>
                </a:solidFill>
                <a:latin typeface="Aptos" pitchFamily="34" charset="0"/>
                <a:ea typeface="Aptos" pitchFamily="34" charset="-122"/>
                <a:cs typeface="Aptos" pitchFamily="34" charset="-120"/>
              </a:rPr>
              <a:t>The total elapsed time from the start of a request until the work is delivered.</a:t>
            </a:r>
            <a:endParaRPr lang="en-US" sz="2000" dirty="0"/>
          </a:p>
        </p:txBody>
      </p:sp>
      <p:sp>
        <p:nvSpPr>
          <p:cNvPr id="12" name="Text 10"/>
          <p:cNvSpPr/>
          <p:nvPr/>
        </p:nvSpPr>
        <p:spPr>
          <a:xfrm>
            <a:off x="960120" y="3319272"/>
            <a:ext cx="4434840" cy="960120"/>
          </a:xfrm>
          <a:prstGeom prst="rect">
            <a:avLst/>
          </a:prstGeom>
          <a:noFill/>
          <a:ln/>
        </p:spPr>
        <p:txBody>
          <a:bodyPr wrap="square" lIns="508" tIns="508" rIns="508" bIns="508" rtlCol="0" anchor="ctr">
            <a:normAutofit/>
          </a:bodyPr>
          <a:lstStyle/>
          <a:p>
            <a:pPr marL="0" indent="0">
              <a:buNone/>
            </a:pPr>
            <a:r>
              <a:rPr lang="en-US" sz="1600" dirty="0">
                <a:solidFill>
                  <a:srgbClr val="102A43"/>
                </a:solidFill>
                <a:latin typeface="Aptos" pitchFamily="34" charset="0"/>
                <a:ea typeface="Aptos" pitchFamily="34" charset="-122"/>
                <a:cs typeface="Aptos" pitchFamily="34" charset="-120"/>
              </a:rPr>
              <a:t>Includes active work plus waiting, handoffs, delays, approval queues, and rework.</a:t>
            </a:r>
            <a:endParaRPr lang="en-US" sz="1600" dirty="0"/>
          </a:p>
        </p:txBody>
      </p:sp>
      <p:sp>
        <p:nvSpPr>
          <p:cNvPr id="13" name="Text 11"/>
          <p:cNvSpPr/>
          <p:nvPr/>
        </p:nvSpPr>
        <p:spPr>
          <a:xfrm>
            <a:off x="6766560" y="2423160"/>
            <a:ext cx="4251960" cy="731520"/>
          </a:xfrm>
          <a:prstGeom prst="rect">
            <a:avLst/>
          </a:prstGeom>
          <a:noFill/>
          <a:ln/>
        </p:spPr>
        <p:txBody>
          <a:bodyPr wrap="square" lIns="508" tIns="508" rIns="508" bIns="508" rtlCol="0" anchor="ctr">
            <a:normAutofit/>
          </a:bodyPr>
          <a:lstStyle/>
          <a:p>
            <a:pPr marL="0" indent="0">
              <a:buNone/>
            </a:pPr>
            <a:r>
              <a:rPr lang="en-US" sz="2000" b="1" dirty="0">
                <a:solidFill>
                  <a:srgbClr val="2E7D7B"/>
                </a:solidFill>
                <a:latin typeface="Aptos" pitchFamily="34" charset="0"/>
                <a:ea typeface="Aptos" pitchFamily="34" charset="-122"/>
                <a:cs typeface="Aptos" pitchFamily="34" charset="-120"/>
              </a:rPr>
              <a:t>The time spent actually working on the task.</a:t>
            </a:r>
            <a:endParaRPr lang="en-US" sz="2000" dirty="0"/>
          </a:p>
        </p:txBody>
      </p:sp>
      <p:sp>
        <p:nvSpPr>
          <p:cNvPr id="14" name="Text 12"/>
          <p:cNvSpPr/>
          <p:nvPr/>
        </p:nvSpPr>
        <p:spPr>
          <a:xfrm>
            <a:off x="6766560" y="3319272"/>
            <a:ext cx="4434840" cy="960120"/>
          </a:xfrm>
          <a:prstGeom prst="rect">
            <a:avLst/>
          </a:prstGeom>
          <a:noFill/>
          <a:ln/>
        </p:spPr>
        <p:txBody>
          <a:bodyPr wrap="square" lIns="508" tIns="508" rIns="508" bIns="508" rtlCol="0" anchor="ctr">
            <a:normAutofit/>
          </a:bodyPr>
          <a:lstStyle/>
          <a:p>
            <a:pPr marL="0" indent="0">
              <a:buNone/>
            </a:pPr>
            <a:r>
              <a:rPr lang="en-US" sz="1600" dirty="0">
                <a:solidFill>
                  <a:srgbClr val="102A43"/>
                </a:solidFill>
                <a:latin typeface="Aptos" pitchFamily="34" charset="0"/>
                <a:ea typeface="Aptos" pitchFamily="34" charset="-122"/>
                <a:cs typeface="Aptos" pitchFamily="34" charset="-120"/>
              </a:rPr>
              <a:t>A team might spend only hours coding or deploying, but the work can sit idle for weeks before the next step.</a:t>
            </a:r>
            <a:endParaRPr lang="en-US" sz="1600" dirty="0"/>
          </a:p>
        </p:txBody>
      </p:sp>
      <p:sp>
        <p:nvSpPr>
          <p:cNvPr id="15" name="Shape 13"/>
          <p:cNvSpPr/>
          <p:nvPr/>
        </p:nvSpPr>
        <p:spPr>
          <a:xfrm>
            <a:off x="2423160" y="5486400"/>
            <a:ext cx="7223760" cy="502920"/>
          </a:xfrm>
          <a:prstGeom prst="roundRect">
            <a:avLst>
              <a:gd name="adj" fmla="val 14545"/>
            </a:avLst>
          </a:prstGeom>
          <a:solidFill>
            <a:srgbClr val="DCEDEA"/>
          </a:solidFill>
          <a:ln w="12700">
            <a:solidFill>
              <a:srgbClr val="DCEDEA"/>
            </a:solidFill>
            <a:prstDash val="solid"/>
          </a:ln>
        </p:spPr>
      </p:sp>
      <p:sp>
        <p:nvSpPr>
          <p:cNvPr id="16" name="Text 14"/>
          <p:cNvSpPr/>
          <p:nvPr/>
        </p:nvSpPr>
        <p:spPr>
          <a:xfrm>
            <a:off x="2651760" y="5605272"/>
            <a:ext cx="6766560" cy="256032"/>
          </a:xfrm>
          <a:prstGeom prst="rect">
            <a:avLst/>
          </a:prstGeom>
          <a:noFill/>
          <a:ln/>
        </p:spPr>
        <p:txBody>
          <a:bodyPr wrap="square" lIns="508" tIns="508" rIns="508" bIns="508" rtlCol="0" anchor="ctr"/>
          <a:lstStyle/>
          <a:p>
            <a:pPr marL="0" indent="0" algn="ctr">
              <a:buNone/>
            </a:pPr>
            <a:r>
              <a:rPr lang="en-US" sz="1800" b="1" dirty="0">
                <a:solidFill>
                  <a:srgbClr val="20364A"/>
                </a:solidFill>
                <a:latin typeface="Aptos" pitchFamily="34" charset="0"/>
                <a:ea typeface="Aptos" pitchFamily="34" charset="-122"/>
                <a:cs typeface="Aptos" pitchFamily="34" charset="-120"/>
              </a:rPr>
              <a:t>Lead Time = Processing Time + Waiting / Queues / Handoffs</a:t>
            </a:r>
            <a:endParaRPr lang="en-US" sz="1800" dirty="0"/>
          </a:p>
        </p:txBody>
      </p:sp>
      <p:sp>
        <p:nvSpPr>
          <p:cNvPr id="17" name="Text 15"/>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Sources: Kim et al., 2021, pp. 9; DORA, n.d.</a:t>
            </a:r>
            <a:endParaRPr lang="en-US" sz="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Graphic: Where the Time Usually Goes</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Most delay is often waiting time, not hands-on work</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Text 3"/>
          <p:cNvSpPr/>
          <p:nvPr/>
        </p:nvSpPr>
        <p:spPr>
          <a:xfrm>
            <a:off x="749808" y="1417320"/>
            <a:ext cx="4206240" cy="320040"/>
          </a:xfrm>
          <a:prstGeom prst="rect">
            <a:avLst/>
          </a:prstGeom>
          <a:noFill/>
          <a:ln/>
        </p:spPr>
        <p:txBody>
          <a:bodyPr wrap="square" lIns="508" tIns="508" rIns="508" bIns="508" rtlCol="0" anchor="ctr"/>
          <a:lstStyle/>
          <a:p>
            <a:pPr marL="0" indent="0">
              <a:buNone/>
            </a:pPr>
            <a:r>
              <a:rPr lang="en-US" sz="1800" b="1" dirty="0">
                <a:solidFill>
                  <a:srgbClr val="20364A"/>
                </a:solidFill>
                <a:latin typeface="Aptos" pitchFamily="34" charset="0"/>
                <a:ea typeface="Aptos" pitchFamily="34" charset="-122"/>
                <a:cs typeface="Aptos" pitchFamily="34" charset="-120"/>
              </a:rPr>
              <a:t>Example technology value stream</a:t>
            </a:r>
            <a:endParaRPr lang="en-US" sz="1800" dirty="0"/>
          </a:p>
        </p:txBody>
      </p:sp>
      <p:sp>
        <p:nvSpPr>
          <p:cNvPr id="6" name="Shape 4"/>
          <p:cNvSpPr/>
          <p:nvPr/>
        </p:nvSpPr>
        <p:spPr>
          <a:xfrm>
            <a:off x="868680" y="3227832"/>
            <a:ext cx="9555480" cy="0"/>
          </a:xfrm>
          <a:prstGeom prst="line">
            <a:avLst/>
          </a:prstGeom>
          <a:noFill/>
          <a:ln w="20320">
            <a:solidFill>
              <a:srgbClr val="52606D"/>
            </a:solidFill>
            <a:prstDash val="solid"/>
            <a:tailEnd type="triangle"/>
          </a:ln>
        </p:spPr>
      </p:sp>
      <p:sp>
        <p:nvSpPr>
          <p:cNvPr id="7" name="Shape 5"/>
          <p:cNvSpPr/>
          <p:nvPr/>
        </p:nvSpPr>
        <p:spPr>
          <a:xfrm>
            <a:off x="731520" y="1965960"/>
            <a:ext cx="1828800" cy="731520"/>
          </a:xfrm>
          <a:prstGeom prst="roundRect">
            <a:avLst>
              <a:gd name="adj" fmla="val 8750"/>
            </a:avLst>
          </a:prstGeom>
          <a:solidFill>
            <a:srgbClr val="D9E2EC"/>
          </a:solidFill>
          <a:ln w="12700">
            <a:solidFill>
              <a:srgbClr val="D9E2EC"/>
            </a:solidFill>
            <a:prstDash val="solid"/>
          </a:ln>
        </p:spPr>
      </p:sp>
      <p:sp>
        <p:nvSpPr>
          <p:cNvPr id="8" name="Text 6"/>
          <p:cNvSpPr/>
          <p:nvPr/>
        </p:nvSpPr>
        <p:spPr>
          <a:xfrm>
            <a:off x="777240" y="2130552"/>
            <a:ext cx="1737360" cy="164592"/>
          </a:xfrm>
          <a:prstGeom prst="rect">
            <a:avLst/>
          </a:prstGeom>
          <a:noFill/>
          <a:ln/>
        </p:spPr>
        <p:txBody>
          <a:bodyPr wrap="square" lIns="508" tIns="508" rIns="508" bIns="508" rtlCol="0" anchor="ctr">
            <a:normAutofit/>
          </a:bodyPr>
          <a:lstStyle/>
          <a:p>
            <a:pPr marL="0" indent="0" algn="ctr">
              <a:buNone/>
            </a:pPr>
            <a:r>
              <a:rPr lang="en-US" sz="1050" b="1" dirty="0">
                <a:solidFill>
                  <a:srgbClr val="102A43"/>
                </a:solidFill>
                <a:latin typeface="Aptos" pitchFamily="34" charset="0"/>
                <a:ea typeface="Aptos" pitchFamily="34" charset="-122"/>
                <a:cs typeface="Aptos" pitchFamily="34" charset="-120"/>
              </a:rPr>
              <a:t>Backlog wait</a:t>
            </a:r>
            <a:endParaRPr lang="en-US" sz="1050" dirty="0"/>
          </a:p>
        </p:txBody>
      </p:sp>
      <p:sp>
        <p:nvSpPr>
          <p:cNvPr id="9" name="Text 7"/>
          <p:cNvSpPr/>
          <p:nvPr/>
        </p:nvSpPr>
        <p:spPr>
          <a:xfrm>
            <a:off x="777240" y="2395728"/>
            <a:ext cx="1737360" cy="146304"/>
          </a:xfrm>
          <a:prstGeom prst="rect">
            <a:avLst/>
          </a:prstGeom>
          <a:noFill/>
          <a:ln/>
        </p:spPr>
        <p:txBody>
          <a:bodyPr wrap="square" lIns="508" tIns="508" rIns="508" bIns="508" rtlCol="0" anchor="ctr">
            <a:normAutofit/>
          </a:bodyPr>
          <a:lstStyle/>
          <a:p>
            <a:pPr marL="0" indent="0" algn="ctr">
              <a:buNone/>
            </a:pPr>
            <a:r>
              <a:rPr lang="en-US" sz="900" dirty="0">
                <a:solidFill>
                  <a:srgbClr val="52606D"/>
                </a:solidFill>
                <a:latin typeface="Aptos" pitchFamily="34" charset="0"/>
                <a:ea typeface="Aptos" pitchFamily="34" charset="-122"/>
                <a:cs typeface="Aptos" pitchFamily="34" charset="-120"/>
              </a:rPr>
              <a:t>Weeks</a:t>
            </a:r>
            <a:endParaRPr lang="en-US" sz="900" dirty="0"/>
          </a:p>
        </p:txBody>
      </p:sp>
      <p:sp>
        <p:nvSpPr>
          <p:cNvPr id="10" name="Shape 8"/>
          <p:cNvSpPr/>
          <p:nvPr/>
        </p:nvSpPr>
        <p:spPr>
          <a:xfrm>
            <a:off x="2697480" y="1965960"/>
            <a:ext cx="914400" cy="731520"/>
          </a:xfrm>
          <a:prstGeom prst="roundRect">
            <a:avLst>
              <a:gd name="adj" fmla="val 8750"/>
            </a:avLst>
          </a:prstGeom>
          <a:solidFill>
            <a:srgbClr val="2E7D7B"/>
          </a:solidFill>
          <a:ln w="12700">
            <a:solidFill>
              <a:srgbClr val="2E7D7B"/>
            </a:solidFill>
            <a:prstDash val="solid"/>
          </a:ln>
        </p:spPr>
      </p:sp>
      <p:sp>
        <p:nvSpPr>
          <p:cNvPr id="11" name="Text 9"/>
          <p:cNvSpPr/>
          <p:nvPr/>
        </p:nvSpPr>
        <p:spPr>
          <a:xfrm>
            <a:off x="2743200" y="2130552"/>
            <a:ext cx="822960" cy="164592"/>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Development</a:t>
            </a:r>
            <a:endParaRPr lang="en-US" sz="1050" dirty="0"/>
          </a:p>
        </p:txBody>
      </p:sp>
      <p:sp>
        <p:nvSpPr>
          <p:cNvPr id="12" name="Text 10"/>
          <p:cNvSpPr/>
          <p:nvPr/>
        </p:nvSpPr>
        <p:spPr>
          <a:xfrm>
            <a:off x="2743200" y="2395728"/>
            <a:ext cx="822960" cy="146304"/>
          </a:xfrm>
          <a:prstGeom prst="rect">
            <a:avLst/>
          </a:prstGeom>
          <a:noFill/>
          <a:ln/>
        </p:spPr>
        <p:txBody>
          <a:bodyPr wrap="square" lIns="508" tIns="508" rIns="508" bIns="508" rtlCol="0" anchor="ctr">
            <a:normAutofit/>
          </a:bodyPr>
          <a:lstStyle/>
          <a:p>
            <a:pPr marL="0" indent="0" algn="ctr">
              <a:buNone/>
            </a:pPr>
            <a:r>
              <a:rPr lang="en-US" sz="900" dirty="0">
                <a:solidFill>
                  <a:srgbClr val="FFFFFF"/>
                </a:solidFill>
                <a:latin typeface="Aptos" pitchFamily="34" charset="0"/>
                <a:ea typeface="Aptos" pitchFamily="34" charset="-122"/>
                <a:cs typeface="Aptos" pitchFamily="34" charset="-120"/>
              </a:rPr>
              <a:t>Days</a:t>
            </a:r>
            <a:endParaRPr lang="en-US" sz="900" dirty="0"/>
          </a:p>
        </p:txBody>
      </p:sp>
      <p:sp>
        <p:nvSpPr>
          <p:cNvPr id="13" name="Shape 11"/>
          <p:cNvSpPr/>
          <p:nvPr/>
        </p:nvSpPr>
        <p:spPr>
          <a:xfrm>
            <a:off x="3749040" y="1965960"/>
            <a:ext cx="1325880" cy="731520"/>
          </a:xfrm>
          <a:prstGeom prst="roundRect">
            <a:avLst>
              <a:gd name="adj" fmla="val 8750"/>
            </a:avLst>
          </a:prstGeom>
          <a:solidFill>
            <a:srgbClr val="D9E2EC"/>
          </a:solidFill>
          <a:ln w="12700">
            <a:solidFill>
              <a:srgbClr val="D9E2EC"/>
            </a:solidFill>
            <a:prstDash val="solid"/>
          </a:ln>
        </p:spPr>
      </p:sp>
      <p:sp>
        <p:nvSpPr>
          <p:cNvPr id="14" name="Text 12"/>
          <p:cNvSpPr/>
          <p:nvPr/>
        </p:nvSpPr>
        <p:spPr>
          <a:xfrm>
            <a:off x="3794760" y="2130552"/>
            <a:ext cx="1234440" cy="164592"/>
          </a:xfrm>
          <a:prstGeom prst="rect">
            <a:avLst/>
          </a:prstGeom>
          <a:noFill/>
          <a:ln/>
        </p:spPr>
        <p:txBody>
          <a:bodyPr wrap="square" lIns="508" tIns="508" rIns="508" bIns="508" rtlCol="0" anchor="ctr">
            <a:normAutofit/>
          </a:bodyPr>
          <a:lstStyle/>
          <a:p>
            <a:pPr marL="0" indent="0" algn="ctr">
              <a:buNone/>
            </a:pPr>
            <a:r>
              <a:rPr lang="en-US" sz="1050" b="1" dirty="0">
                <a:solidFill>
                  <a:srgbClr val="102A43"/>
                </a:solidFill>
                <a:latin typeface="Aptos" pitchFamily="34" charset="0"/>
                <a:ea typeface="Aptos" pitchFamily="34" charset="-122"/>
                <a:cs typeface="Aptos" pitchFamily="34" charset="-120"/>
              </a:rPr>
              <a:t>Review queue</a:t>
            </a:r>
            <a:endParaRPr lang="en-US" sz="1050" dirty="0"/>
          </a:p>
        </p:txBody>
      </p:sp>
      <p:sp>
        <p:nvSpPr>
          <p:cNvPr id="15" name="Text 13"/>
          <p:cNvSpPr/>
          <p:nvPr/>
        </p:nvSpPr>
        <p:spPr>
          <a:xfrm>
            <a:off x="3794760" y="2395728"/>
            <a:ext cx="1234440" cy="146304"/>
          </a:xfrm>
          <a:prstGeom prst="rect">
            <a:avLst/>
          </a:prstGeom>
          <a:noFill/>
          <a:ln/>
        </p:spPr>
        <p:txBody>
          <a:bodyPr wrap="square" lIns="508" tIns="508" rIns="508" bIns="508" rtlCol="0" anchor="ctr">
            <a:normAutofit/>
          </a:bodyPr>
          <a:lstStyle/>
          <a:p>
            <a:pPr marL="0" indent="0" algn="ctr">
              <a:buNone/>
            </a:pPr>
            <a:r>
              <a:rPr lang="en-US" sz="900" dirty="0">
                <a:solidFill>
                  <a:srgbClr val="52606D"/>
                </a:solidFill>
                <a:latin typeface="Aptos" pitchFamily="34" charset="0"/>
                <a:ea typeface="Aptos" pitchFamily="34" charset="-122"/>
                <a:cs typeface="Aptos" pitchFamily="34" charset="-120"/>
              </a:rPr>
              <a:t>Days/weeks</a:t>
            </a:r>
            <a:endParaRPr lang="en-US" sz="900" dirty="0"/>
          </a:p>
        </p:txBody>
      </p:sp>
      <p:sp>
        <p:nvSpPr>
          <p:cNvPr id="16" name="Shape 14"/>
          <p:cNvSpPr/>
          <p:nvPr/>
        </p:nvSpPr>
        <p:spPr>
          <a:xfrm>
            <a:off x="5212080" y="1965960"/>
            <a:ext cx="914400" cy="731520"/>
          </a:xfrm>
          <a:prstGeom prst="roundRect">
            <a:avLst>
              <a:gd name="adj" fmla="val 8750"/>
            </a:avLst>
          </a:prstGeom>
          <a:solidFill>
            <a:srgbClr val="E9A23B"/>
          </a:solidFill>
          <a:ln w="12700">
            <a:solidFill>
              <a:srgbClr val="E9A23B"/>
            </a:solidFill>
            <a:prstDash val="solid"/>
          </a:ln>
        </p:spPr>
      </p:sp>
      <p:sp>
        <p:nvSpPr>
          <p:cNvPr id="17" name="Text 15"/>
          <p:cNvSpPr/>
          <p:nvPr/>
        </p:nvSpPr>
        <p:spPr>
          <a:xfrm>
            <a:off x="5257800" y="2130552"/>
            <a:ext cx="822960" cy="164592"/>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Testing</a:t>
            </a:r>
            <a:endParaRPr lang="en-US" sz="1050" dirty="0"/>
          </a:p>
        </p:txBody>
      </p:sp>
      <p:sp>
        <p:nvSpPr>
          <p:cNvPr id="18" name="Text 16"/>
          <p:cNvSpPr/>
          <p:nvPr/>
        </p:nvSpPr>
        <p:spPr>
          <a:xfrm>
            <a:off x="5257800" y="2395728"/>
            <a:ext cx="822960" cy="146304"/>
          </a:xfrm>
          <a:prstGeom prst="rect">
            <a:avLst/>
          </a:prstGeom>
          <a:noFill/>
          <a:ln/>
        </p:spPr>
        <p:txBody>
          <a:bodyPr wrap="square" lIns="508" tIns="508" rIns="508" bIns="508" rtlCol="0" anchor="ctr">
            <a:normAutofit/>
          </a:bodyPr>
          <a:lstStyle/>
          <a:p>
            <a:pPr marL="0" indent="0" algn="ctr">
              <a:buNone/>
            </a:pPr>
            <a:r>
              <a:rPr lang="en-US" sz="900" dirty="0">
                <a:solidFill>
                  <a:srgbClr val="FFFFFF"/>
                </a:solidFill>
                <a:latin typeface="Aptos" pitchFamily="34" charset="0"/>
                <a:ea typeface="Aptos" pitchFamily="34" charset="-122"/>
                <a:cs typeface="Aptos" pitchFamily="34" charset="-120"/>
              </a:rPr>
              <a:t>Hours/days</a:t>
            </a:r>
            <a:endParaRPr lang="en-US" sz="900" dirty="0"/>
          </a:p>
        </p:txBody>
      </p:sp>
      <p:sp>
        <p:nvSpPr>
          <p:cNvPr id="19" name="Shape 17"/>
          <p:cNvSpPr/>
          <p:nvPr/>
        </p:nvSpPr>
        <p:spPr>
          <a:xfrm>
            <a:off x="6263640" y="1965960"/>
            <a:ext cx="1325880" cy="731520"/>
          </a:xfrm>
          <a:prstGeom prst="roundRect">
            <a:avLst>
              <a:gd name="adj" fmla="val 8750"/>
            </a:avLst>
          </a:prstGeom>
          <a:solidFill>
            <a:srgbClr val="D9E2EC"/>
          </a:solidFill>
          <a:ln w="12700">
            <a:solidFill>
              <a:srgbClr val="D9E2EC"/>
            </a:solidFill>
            <a:prstDash val="solid"/>
          </a:ln>
        </p:spPr>
      </p:sp>
      <p:sp>
        <p:nvSpPr>
          <p:cNvPr id="20" name="Text 18"/>
          <p:cNvSpPr/>
          <p:nvPr/>
        </p:nvSpPr>
        <p:spPr>
          <a:xfrm>
            <a:off x="6309360" y="2130552"/>
            <a:ext cx="1234440" cy="164592"/>
          </a:xfrm>
          <a:prstGeom prst="rect">
            <a:avLst/>
          </a:prstGeom>
          <a:noFill/>
          <a:ln/>
        </p:spPr>
        <p:txBody>
          <a:bodyPr wrap="square" lIns="508" tIns="508" rIns="508" bIns="508" rtlCol="0" anchor="ctr">
            <a:normAutofit/>
          </a:bodyPr>
          <a:lstStyle/>
          <a:p>
            <a:pPr marL="0" indent="0" algn="ctr">
              <a:buNone/>
            </a:pPr>
            <a:r>
              <a:rPr lang="en-US" sz="1050" b="1" dirty="0">
                <a:solidFill>
                  <a:srgbClr val="102A43"/>
                </a:solidFill>
                <a:latin typeface="Aptos" pitchFamily="34" charset="0"/>
                <a:ea typeface="Aptos" pitchFamily="34" charset="-122"/>
                <a:cs typeface="Aptos" pitchFamily="34" charset="-120"/>
              </a:rPr>
              <a:t>Approval wait</a:t>
            </a:r>
            <a:endParaRPr lang="en-US" sz="1050" dirty="0"/>
          </a:p>
        </p:txBody>
      </p:sp>
      <p:sp>
        <p:nvSpPr>
          <p:cNvPr id="21" name="Text 19"/>
          <p:cNvSpPr/>
          <p:nvPr/>
        </p:nvSpPr>
        <p:spPr>
          <a:xfrm>
            <a:off x="6309360" y="2395728"/>
            <a:ext cx="1234440" cy="146304"/>
          </a:xfrm>
          <a:prstGeom prst="rect">
            <a:avLst/>
          </a:prstGeom>
          <a:noFill/>
          <a:ln/>
        </p:spPr>
        <p:txBody>
          <a:bodyPr wrap="square" lIns="508" tIns="508" rIns="508" bIns="508" rtlCol="0" anchor="ctr">
            <a:normAutofit/>
          </a:bodyPr>
          <a:lstStyle/>
          <a:p>
            <a:pPr marL="0" indent="0" algn="ctr">
              <a:buNone/>
            </a:pPr>
            <a:r>
              <a:rPr lang="en-US" sz="900" dirty="0">
                <a:solidFill>
                  <a:srgbClr val="52606D"/>
                </a:solidFill>
                <a:latin typeface="Aptos" pitchFamily="34" charset="0"/>
                <a:ea typeface="Aptos" pitchFamily="34" charset="-122"/>
                <a:cs typeface="Aptos" pitchFamily="34" charset="-120"/>
              </a:rPr>
              <a:t>Weeks</a:t>
            </a:r>
            <a:endParaRPr lang="en-US" sz="900" dirty="0"/>
          </a:p>
        </p:txBody>
      </p:sp>
      <p:sp>
        <p:nvSpPr>
          <p:cNvPr id="22" name="Shape 20"/>
          <p:cNvSpPr/>
          <p:nvPr/>
        </p:nvSpPr>
        <p:spPr>
          <a:xfrm>
            <a:off x="7726679" y="1965960"/>
            <a:ext cx="1010265" cy="731520"/>
          </a:xfrm>
          <a:prstGeom prst="roundRect">
            <a:avLst>
              <a:gd name="adj" fmla="val 8750"/>
            </a:avLst>
          </a:prstGeom>
          <a:solidFill>
            <a:srgbClr val="D96C3B"/>
          </a:solidFill>
          <a:ln w="12700">
            <a:solidFill>
              <a:srgbClr val="D96C3B"/>
            </a:solidFill>
            <a:prstDash val="solid"/>
          </a:ln>
        </p:spPr>
      </p:sp>
      <p:sp>
        <p:nvSpPr>
          <p:cNvPr id="23" name="Text 21"/>
          <p:cNvSpPr/>
          <p:nvPr/>
        </p:nvSpPr>
        <p:spPr>
          <a:xfrm>
            <a:off x="7772400" y="2130552"/>
            <a:ext cx="911450" cy="146304"/>
          </a:xfrm>
          <a:prstGeom prst="rect">
            <a:avLst/>
          </a:prstGeom>
          <a:noFill/>
          <a:ln/>
        </p:spPr>
        <p:txBody>
          <a:bodyPr wrap="square" lIns="508" tIns="508" rIns="508" bIns="508" rtlCol="0" anchor="ctr">
            <a:normAutofit lnSpcReduction="10000"/>
          </a:bodyPr>
          <a:lstStyle/>
          <a:p>
            <a:pPr marL="0" indent="0" algn="ctr">
              <a:buNone/>
            </a:pPr>
            <a:r>
              <a:rPr lang="en-US" sz="1050" b="1" dirty="0">
                <a:solidFill>
                  <a:srgbClr val="FFFFFF"/>
                </a:solidFill>
                <a:latin typeface="Aptos" pitchFamily="34" charset="0"/>
                <a:ea typeface="Aptos" pitchFamily="34" charset="-122"/>
                <a:cs typeface="Aptos" pitchFamily="34" charset="-120"/>
              </a:rPr>
              <a:t>Deployment</a:t>
            </a:r>
            <a:endParaRPr lang="en-US" sz="900" dirty="0"/>
          </a:p>
        </p:txBody>
      </p:sp>
      <p:sp>
        <p:nvSpPr>
          <p:cNvPr id="24" name="Text 22"/>
          <p:cNvSpPr/>
          <p:nvPr/>
        </p:nvSpPr>
        <p:spPr>
          <a:xfrm>
            <a:off x="7872689" y="2390419"/>
            <a:ext cx="731520" cy="146304"/>
          </a:xfrm>
          <a:prstGeom prst="rect">
            <a:avLst/>
          </a:prstGeom>
          <a:noFill/>
          <a:ln/>
        </p:spPr>
        <p:txBody>
          <a:bodyPr wrap="square" lIns="508" tIns="508" rIns="508" bIns="508" rtlCol="0" anchor="ctr">
            <a:normAutofit/>
          </a:bodyPr>
          <a:lstStyle/>
          <a:p>
            <a:pPr marL="0" indent="0" algn="ctr">
              <a:buNone/>
            </a:pPr>
            <a:r>
              <a:rPr lang="en-US" sz="900" dirty="0">
                <a:solidFill>
                  <a:srgbClr val="FFFFFF"/>
                </a:solidFill>
                <a:latin typeface="Aptos" pitchFamily="34" charset="0"/>
                <a:ea typeface="Aptos" pitchFamily="34" charset="-122"/>
                <a:cs typeface="Aptos" pitchFamily="34" charset="-120"/>
              </a:rPr>
              <a:t>Minutes/hours</a:t>
            </a:r>
            <a:endParaRPr lang="en-US" sz="900" dirty="0"/>
          </a:p>
        </p:txBody>
      </p:sp>
      <p:sp>
        <p:nvSpPr>
          <p:cNvPr id="25" name="Shape 23"/>
          <p:cNvSpPr/>
          <p:nvPr/>
        </p:nvSpPr>
        <p:spPr>
          <a:xfrm>
            <a:off x="8869680" y="1965960"/>
            <a:ext cx="914400" cy="731520"/>
          </a:xfrm>
          <a:prstGeom prst="roundRect">
            <a:avLst>
              <a:gd name="adj" fmla="val 8750"/>
            </a:avLst>
          </a:prstGeom>
          <a:solidFill>
            <a:srgbClr val="2E7D7B"/>
          </a:solidFill>
          <a:ln w="12700">
            <a:solidFill>
              <a:srgbClr val="2E7D7B"/>
            </a:solidFill>
            <a:prstDash val="solid"/>
          </a:ln>
        </p:spPr>
      </p:sp>
      <p:sp>
        <p:nvSpPr>
          <p:cNvPr id="26" name="Text 24"/>
          <p:cNvSpPr/>
          <p:nvPr/>
        </p:nvSpPr>
        <p:spPr>
          <a:xfrm>
            <a:off x="8915400" y="2130552"/>
            <a:ext cx="822960" cy="164592"/>
          </a:xfrm>
          <a:prstGeom prst="rect">
            <a:avLst/>
          </a:prstGeom>
          <a:noFill/>
          <a:ln/>
        </p:spPr>
        <p:txBody>
          <a:bodyPr wrap="square" lIns="508" tIns="508" rIns="508" bIns="508" rtlCol="0" anchor="ctr">
            <a:normAutofit/>
          </a:bodyPr>
          <a:lstStyle/>
          <a:p>
            <a:pPr marL="0" indent="0" algn="ctr">
              <a:buNone/>
            </a:pPr>
            <a:r>
              <a:rPr lang="en-US" sz="1050" b="1" dirty="0">
                <a:solidFill>
                  <a:srgbClr val="FFFFFF"/>
                </a:solidFill>
                <a:latin typeface="Aptos" pitchFamily="34" charset="0"/>
                <a:ea typeface="Aptos" pitchFamily="34" charset="-122"/>
                <a:cs typeface="Aptos" pitchFamily="34" charset="-120"/>
              </a:rPr>
              <a:t>Feedback</a:t>
            </a:r>
            <a:endParaRPr lang="en-US" sz="1050" dirty="0"/>
          </a:p>
        </p:txBody>
      </p:sp>
      <p:sp>
        <p:nvSpPr>
          <p:cNvPr id="27" name="Text 25"/>
          <p:cNvSpPr/>
          <p:nvPr/>
        </p:nvSpPr>
        <p:spPr>
          <a:xfrm>
            <a:off x="8915400" y="2386584"/>
            <a:ext cx="822960" cy="146304"/>
          </a:xfrm>
          <a:prstGeom prst="rect">
            <a:avLst/>
          </a:prstGeom>
          <a:noFill/>
          <a:ln/>
        </p:spPr>
        <p:txBody>
          <a:bodyPr wrap="square" lIns="508" tIns="508" rIns="508" bIns="508" rtlCol="0" anchor="ctr">
            <a:normAutofit/>
          </a:bodyPr>
          <a:lstStyle/>
          <a:p>
            <a:pPr marL="0" indent="0" algn="ctr">
              <a:buNone/>
            </a:pPr>
            <a:r>
              <a:rPr lang="en-US" sz="900" dirty="0">
                <a:solidFill>
                  <a:srgbClr val="FFFFFF"/>
                </a:solidFill>
                <a:latin typeface="Aptos" pitchFamily="34" charset="0"/>
                <a:ea typeface="Aptos" pitchFamily="34" charset="-122"/>
                <a:cs typeface="Aptos" pitchFamily="34" charset="-120"/>
              </a:rPr>
              <a:t>Continuous</a:t>
            </a:r>
            <a:endParaRPr lang="en-US" sz="900" dirty="0"/>
          </a:p>
        </p:txBody>
      </p:sp>
      <p:sp>
        <p:nvSpPr>
          <p:cNvPr id="28" name="Text 26"/>
          <p:cNvSpPr/>
          <p:nvPr/>
        </p:nvSpPr>
        <p:spPr>
          <a:xfrm>
            <a:off x="822960" y="4160520"/>
            <a:ext cx="4983480" cy="411480"/>
          </a:xfrm>
          <a:prstGeom prst="rect">
            <a:avLst/>
          </a:prstGeom>
          <a:noFill/>
          <a:ln/>
        </p:spPr>
        <p:txBody>
          <a:bodyPr wrap="square" lIns="508" tIns="508" rIns="508" bIns="508" rtlCol="0" anchor="ctr"/>
          <a:lstStyle/>
          <a:p>
            <a:pPr marL="0" indent="0">
              <a:buNone/>
            </a:pPr>
            <a:r>
              <a:rPr lang="en-US" sz="2100" b="1" dirty="0">
                <a:solidFill>
                  <a:srgbClr val="20364A"/>
                </a:solidFill>
                <a:latin typeface="Aptos" pitchFamily="34" charset="0"/>
                <a:ea typeface="Aptos" pitchFamily="34" charset="-122"/>
                <a:cs typeface="Aptos" pitchFamily="34" charset="-120"/>
              </a:rPr>
              <a:t>The DevOps question: “Where is work sitting still?”</a:t>
            </a:r>
            <a:endParaRPr lang="en-US" sz="2100" dirty="0"/>
          </a:p>
        </p:txBody>
      </p:sp>
      <p:sp>
        <p:nvSpPr>
          <p:cNvPr id="29" name="Text 27"/>
          <p:cNvSpPr/>
          <p:nvPr/>
        </p:nvSpPr>
        <p:spPr>
          <a:xfrm>
            <a:off x="841248" y="4709160"/>
            <a:ext cx="9418320" cy="640080"/>
          </a:xfrm>
          <a:prstGeom prst="rect">
            <a:avLst/>
          </a:prstGeom>
          <a:noFill/>
          <a:ln/>
        </p:spPr>
        <p:txBody>
          <a:bodyPr wrap="square" lIns="508" tIns="508" rIns="508" bIns="508" rtlCol="0" anchor="ctr">
            <a:normAutofit/>
          </a:bodyPr>
          <a:lstStyle/>
          <a:p>
            <a:pPr marL="0" indent="0">
              <a:buNone/>
            </a:pPr>
            <a:r>
              <a:rPr lang="en-US" sz="1700" dirty="0">
                <a:solidFill>
                  <a:srgbClr val="102A43"/>
                </a:solidFill>
                <a:latin typeface="Aptos" pitchFamily="34" charset="0"/>
                <a:ea typeface="Aptos" pitchFamily="34" charset="-122"/>
                <a:cs typeface="Aptos" pitchFamily="34" charset="-120"/>
              </a:rPr>
              <a:t>Reducing lead time usually means removing queues, batching, rework, and manual gates—not just asking people to work faster.</a:t>
            </a:r>
            <a:endParaRPr lang="en-US" sz="1700" dirty="0"/>
          </a:p>
        </p:txBody>
      </p:sp>
      <p:sp>
        <p:nvSpPr>
          <p:cNvPr id="30" name="Text 28"/>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Sources: Kim et al., 2021; DORA, n.d.; Fowler, 2013.</a:t>
            </a:r>
            <a:endParaRPr lang="en-US" sz="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Common Scenario: Month-Long Lead Times</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Traditional deployments often wait in queues before customers see value</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Text 3"/>
          <p:cNvSpPr/>
          <p:nvPr/>
        </p:nvSpPr>
        <p:spPr>
          <a:xfrm>
            <a:off x="685800" y="1481328"/>
            <a:ext cx="10561320" cy="914400"/>
          </a:xfrm>
          <a:prstGeom prst="rect">
            <a:avLst/>
          </a:prstGeom>
          <a:noFill/>
          <a:ln/>
        </p:spPr>
        <p:txBody>
          <a:bodyPr wrap="square" lIns="508" tIns="508" rIns="508" bIns="508" rtlCol="0" anchor="ctr">
            <a:normAutofit/>
          </a:bodyPr>
          <a:lstStyle/>
          <a:p>
            <a:pPr marL="0" indent="0">
              <a:buNone/>
            </a:pPr>
            <a:r>
              <a:rPr lang="en-US" sz="1800" dirty="0">
                <a:solidFill>
                  <a:srgbClr val="102A43"/>
                </a:solidFill>
                <a:latin typeface="Aptos" pitchFamily="34" charset="0"/>
                <a:ea typeface="Aptos" pitchFamily="34" charset="-122"/>
                <a:cs typeface="Aptos" pitchFamily="34" charset="-120"/>
              </a:rPr>
              <a:t>In many organizations, software may be “done” from the developer’s point of view but still far from the customer. Work waits for reviews, test environments, security checks, release windows, approvals, and operations support.</a:t>
            </a:r>
            <a:endParaRPr lang="en-US" sz="1800" dirty="0"/>
          </a:p>
        </p:txBody>
      </p:sp>
      <p:sp>
        <p:nvSpPr>
          <p:cNvPr id="6" name="Shape 4"/>
          <p:cNvSpPr/>
          <p:nvPr/>
        </p:nvSpPr>
        <p:spPr>
          <a:xfrm>
            <a:off x="868680" y="2743200"/>
            <a:ext cx="164592" cy="164592"/>
          </a:xfrm>
          <a:prstGeom prst="ellipse">
            <a:avLst/>
          </a:prstGeom>
          <a:solidFill>
            <a:srgbClr val="D96C3B"/>
          </a:solidFill>
          <a:ln w="12700">
            <a:solidFill>
              <a:srgbClr val="D96C3B"/>
            </a:solidFill>
            <a:prstDash val="solid"/>
          </a:ln>
        </p:spPr>
      </p:sp>
      <p:sp>
        <p:nvSpPr>
          <p:cNvPr id="7" name="Text 5"/>
          <p:cNvSpPr/>
          <p:nvPr/>
        </p:nvSpPr>
        <p:spPr>
          <a:xfrm>
            <a:off x="1188720" y="2697480"/>
            <a:ext cx="2057400" cy="256032"/>
          </a:xfrm>
          <a:prstGeom prst="rect">
            <a:avLst/>
          </a:prstGeom>
          <a:noFill/>
          <a:ln/>
        </p:spPr>
        <p:txBody>
          <a:bodyPr wrap="square" lIns="508" tIns="508" rIns="508" bIns="508" rtlCol="0" anchor="ctr"/>
          <a:lstStyle/>
          <a:p>
            <a:pPr marL="0" indent="0">
              <a:buNone/>
            </a:pPr>
            <a:r>
              <a:rPr lang="en-US" sz="1600" b="1" dirty="0">
                <a:solidFill>
                  <a:srgbClr val="20364A"/>
                </a:solidFill>
                <a:latin typeface="Aptos" pitchFamily="34" charset="0"/>
                <a:ea typeface="Aptos" pitchFamily="34" charset="-122"/>
                <a:cs typeface="Aptos" pitchFamily="34" charset="-120"/>
              </a:rPr>
              <a:t>Large batches</a:t>
            </a:r>
            <a:endParaRPr lang="en-US" sz="1600" dirty="0"/>
          </a:p>
        </p:txBody>
      </p:sp>
      <p:sp>
        <p:nvSpPr>
          <p:cNvPr id="8" name="Text 6"/>
          <p:cNvSpPr/>
          <p:nvPr/>
        </p:nvSpPr>
        <p:spPr>
          <a:xfrm>
            <a:off x="3291840" y="2697480"/>
            <a:ext cx="7955280" cy="256032"/>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Many changes are bundled into one risky release.</a:t>
            </a:r>
            <a:endParaRPr lang="en-US" sz="1600" dirty="0"/>
          </a:p>
        </p:txBody>
      </p:sp>
      <p:sp>
        <p:nvSpPr>
          <p:cNvPr id="9" name="Shape 7"/>
          <p:cNvSpPr/>
          <p:nvPr/>
        </p:nvSpPr>
        <p:spPr>
          <a:xfrm>
            <a:off x="868680" y="3310128"/>
            <a:ext cx="164592" cy="164592"/>
          </a:xfrm>
          <a:prstGeom prst="ellipse">
            <a:avLst/>
          </a:prstGeom>
          <a:solidFill>
            <a:srgbClr val="D96C3B"/>
          </a:solidFill>
          <a:ln w="12700">
            <a:solidFill>
              <a:srgbClr val="D96C3B"/>
            </a:solidFill>
            <a:prstDash val="solid"/>
          </a:ln>
        </p:spPr>
      </p:sp>
      <p:sp>
        <p:nvSpPr>
          <p:cNvPr id="10" name="Text 8"/>
          <p:cNvSpPr/>
          <p:nvPr/>
        </p:nvSpPr>
        <p:spPr>
          <a:xfrm>
            <a:off x="1188720" y="3264408"/>
            <a:ext cx="2057400" cy="256032"/>
          </a:xfrm>
          <a:prstGeom prst="rect">
            <a:avLst/>
          </a:prstGeom>
          <a:noFill/>
          <a:ln/>
        </p:spPr>
        <p:txBody>
          <a:bodyPr wrap="square" lIns="508" tIns="508" rIns="508" bIns="508" rtlCol="0" anchor="ctr"/>
          <a:lstStyle/>
          <a:p>
            <a:pPr marL="0" indent="0">
              <a:buNone/>
            </a:pPr>
            <a:r>
              <a:rPr lang="en-US" sz="1600" b="1" dirty="0">
                <a:solidFill>
                  <a:srgbClr val="20364A"/>
                </a:solidFill>
                <a:latin typeface="Aptos" pitchFamily="34" charset="0"/>
                <a:ea typeface="Aptos" pitchFamily="34" charset="-122"/>
                <a:cs typeface="Aptos" pitchFamily="34" charset="-120"/>
              </a:rPr>
              <a:t>Manual handoffs</a:t>
            </a:r>
            <a:endParaRPr lang="en-US" sz="1600" dirty="0"/>
          </a:p>
        </p:txBody>
      </p:sp>
      <p:sp>
        <p:nvSpPr>
          <p:cNvPr id="11" name="Text 9"/>
          <p:cNvSpPr/>
          <p:nvPr/>
        </p:nvSpPr>
        <p:spPr>
          <a:xfrm>
            <a:off x="3291840" y="3264408"/>
            <a:ext cx="7955280" cy="256032"/>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Teams pass work along instead of owning the whole flow.</a:t>
            </a:r>
            <a:endParaRPr lang="en-US" sz="1600" dirty="0"/>
          </a:p>
        </p:txBody>
      </p:sp>
      <p:sp>
        <p:nvSpPr>
          <p:cNvPr id="12" name="Shape 10"/>
          <p:cNvSpPr/>
          <p:nvPr/>
        </p:nvSpPr>
        <p:spPr>
          <a:xfrm>
            <a:off x="868680" y="3877056"/>
            <a:ext cx="164592" cy="164592"/>
          </a:xfrm>
          <a:prstGeom prst="ellipse">
            <a:avLst/>
          </a:prstGeom>
          <a:solidFill>
            <a:srgbClr val="D96C3B"/>
          </a:solidFill>
          <a:ln w="12700">
            <a:solidFill>
              <a:srgbClr val="D96C3B"/>
            </a:solidFill>
            <a:prstDash val="solid"/>
          </a:ln>
        </p:spPr>
      </p:sp>
      <p:sp>
        <p:nvSpPr>
          <p:cNvPr id="13" name="Text 11"/>
          <p:cNvSpPr/>
          <p:nvPr/>
        </p:nvSpPr>
        <p:spPr>
          <a:xfrm>
            <a:off x="1188720" y="3831336"/>
            <a:ext cx="2057400" cy="256032"/>
          </a:xfrm>
          <a:prstGeom prst="rect">
            <a:avLst/>
          </a:prstGeom>
          <a:noFill/>
          <a:ln/>
        </p:spPr>
        <p:txBody>
          <a:bodyPr wrap="square" lIns="508" tIns="508" rIns="508" bIns="508" rtlCol="0" anchor="ctr"/>
          <a:lstStyle/>
          <a:p>
            <a:pPr marL="0" indent="0">
              <a:buNone/>
            </a:pPr>
            <a:r>
              <a:rPr lang="en-US" sz="1600" b="1" dirty="0">
                <a:solidFill>
                  <a:srgbClr val="20364A"/>
                </a:solidFill>
                <a:latin typeface="Aptos" pitchFamily="34" charset="0"/>
                <a:ea typeface="Aptos" pitchFamily="34" charset="-122"/>
                <a:cs typeface="Aptos" pitchFamily="34" charset="-120"/>
              </a:rPr>
              <a:t>Environment issues</a:t>
            </a:r>
            <a:endParaRPr lang="en-US" sz="1600" dirty="0"/>
          </a:p>
        </p:txBody>
      </p:sp>
      <p:sp>
        <p:nvSpPr>
          <p:cNvPr id="14" name="Text 12"/>
          <p:cNvSpPr/>
          <p:nvPr/>
        </p:nvSpPr>
        <p:spPr>
          <a:xfrm>
            <a:off x="3291840" y="3831336"/>
            <a:ext cx="7955280" cy="256032"/>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Development, test, and production do not match.</a:t>
            </a:r>
            <a:endParaRPr lang="en-US" sz="1600" dirty="0"/>
          </a:p>
        </p:txBody>
      </p:sp>
      <p:sp>
        <p:nvSpPr>
          <p:cNvPr id="15" name="Shape 13"/>
          <p:cNvSpPr/>
          <p:nvPr/>
        </p:nvSpPr>
        <p:spPr>
          <a:xfrm>
            <a:off x="868680" y="4443984"/>
            <a:ext cx="164592" cy="164592"/>
          </a:xfrm>
          <a:prstGeom prst="ellipse">
            <a:avLst/>
          </a:prstGeom>
          <a:solidFill>
            <a:srgbClr val="D96C3B"/>
          </a:solidFill>
          <a:ln w="12700">
            <a:solidFill>
              <a:srgbClr val="D96C3B"/>
            </a:solidFill>
            <a:prstDash val="solid"/>
          </a:ln>
        </p:spPr>
      </p:sp>
      <p:sp>
        <p:nvSpPr>
          <p:cNvPr id="16" name="Text 14"/>
          <p:cNvSpPr/>
          <p:nvPr/>
        </p:nvSpPr>
        <p:spPr>
          <a:xfrm>
            <a:off x="1188720" y="4398264"/>
            <a:ext cx="2057400" cy="256032"/>
          </a:xfrm>
          <a:prstGeom prst="rect">
            <a:avLst/>
          </a:prstGeom>
          <a:noFill/>
          <a:ln/>
        </p:spPr>
        <p:txBody>
          <a:bodyPr wrap="square" lIns="508" tIns="508" rIns="508" bIns="508" rtlCol="0" anchor="ctr"/>
          <a:lstStyle/>
          <a:p>
            <a:pPr marL="0" indent="0">
              <a:buNone/>
            </a:pPr>
            <a:r>
              <a:rPr lang="en-US" sz="1600" b="1" dirty="0">
                <a:solidFill>
                  <a:srgbClr val="20364A"/>
                </a:solidFill>
                <a:latin typeface="Aptos" pitchFamily="34" charset="0"/>
                <a:ea typeface="Aptos" pitchFamily="34" charset="-122"/>
                <a:cs typeface="Aptos" pitchFamily="34" charset="-120"/>
              </a:rPr>
              <a:t>Late testing</a:t>
            </a:r>
            <a:endParaRPr lang="en-US" sz="1600" dirty="0"/>
          </a:p>
        </p:txBody>
      </p:sp>
      <p:sp>
        <p:nvSpPr>
          <p:cNvPr id="17" name="Text 15"/>
          <p:cNvSpPr/>
          <p:nvPr/>
        </p:nvSpPr>
        <p:spPr>
          <a:xfrm>
            <a:off x="3291840" y="4398264"/>
            <a:ext cx="7955280" cy="256032"/>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Defects are discovered after the work has already moved downstream.</a:t>
            </a:r>
            <a:endParaRPr lang="en-US" sz="1600" dirty="0"/>
          </a:p>
        </p:txBody>
      </p:sp>
      <p:sp>
        <p:nvSpPr>
          <p:cNvPr id="18" name="Shape 16"/>
          <p:cNvSpPr/>
          <p:nvPr/>
        </p:nvSpPr>
        <p:spPr>
          <a:xfrm>
            <a:off x="868680" y="5010912"/>
            <a:ext cx="164592" cy="164592"/>
          </a:xfrm>
          <a:prstGeom prst="ellipse">
            <a:avLst/>
          </a:prstGeom>
          <a:solidFill>
            <a:srgbClr val="D96C3B"/>
          </a:solidFill>
          <a:ln w="12700">
            <a:solidFill>
              <a:srgbClr val="D96C3B"/>
            </a:solidFill>
            <a:prstDash val="solid"/>
          </a:ln>
        </p:spPr>
      </p:sp>
      <p:sp>
        <p:nvSpPr>
          <p:cNvPr id="19" name="Text 17"/>
          <p:cNvSpPr/>
          <p:nvPr/>
        </p:nvSpPr>
        <p:spPr>
          <a:xfrm>
            <a:off x="1188720" y="4965192"/>
            <a:ext cx="2057400" cy="256032"/>
          </a:xfrm>
          <a:prstGeom prst="rect">
            <a:avLst/>
          </a:prstGeom>
          <a:noFill/>
          <a:ln/>
        </p:spPr>
        <p:txBody>
          <a:bodyPr wrap="square" lIns="508" tIns="508" rIns="508" bIns="508" rtlCol="0" anchor="ctr"/>
          <a:lstStyle/>
          <a:p>
            <a:pPr marL="0" indent="0">
              <a:buNone/>
            </a:pPr>
            <a:r>
              <a:rPr lang="en-US" sz="1600" b="1" dirty="0">
                <a:solidFill>
                  <a:srgbClr val="20364A"/>
                </a:solidFill>
                <a:latin typeface="Aptos" pitchFamily="34" charset="0"/>
                <a:ea typeface="Aptos" pitchFamily="34" charset="-122"/>
                <a:cs typeface="Aptos" pitchFamily="34" charset="-120"/>
              </a:rPr>
              <a:t>Approval queues</a:t>
            </a:r>
            <a:endParaRPr lang="en-US" sz="1600" dirty="0"/>
          </a:p>
        </p:txBody>
      </p:sp>
      <p:sp>
        <p:nvSpPr>
          <p:cNvPr id="20" name="Text 18"/>
          <p:cNvSpPr/>
          <p:nvPr/>
        </p:nvSpPr>
        <p:spPr>
          <a:xfrm>
            <a:off x="3291840" y="4965192"/>
            <a:ext cx="7955280" cy="256032"/>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Work waits for change boards, release windows, or overloaded reviewers.</a:t>
            </a:r>
            <a:endParaRPr lang="en-US" sz="1600" dirty="0"/>
          </a:p>
        </p:txBody>
      </p:sp>
      <p:sp>
        <p:nvSpPr>
          <p:cNvPr id="21" name="Text 19"/>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 The DevOps Handbook excerpt, IT Revolution; Fowler, 2013.</a:t>
            </a:r>
            <a:endParaRPr lang="en-US" sz="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DevOps Ideal: Minutes-Long Lead Times</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The goal is fast, reliable flow from code change to production</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Text 3"/>
          <p:cNvSpPr/>
          <p:nvPr/>
        </p:nvSpPr>
        <p:spPr>
          <a:xfrm>
            <a:off x="685800" y="1481328"/>
            <a:ext cx="5577840" cy="960120"/>
          </a:xfrm>
          <a:prstGeom prst="rect">
            <a:avLst/>
          </a:prstGeom>
          <a:noFill/>
          <a:ln/>
        </p:spPr>
        <p:txBody>
          <a:bodyPr wrap="square" lIns="508" tIns="508" rIns="508" bIns="508" rtlCol="0" anchor="ctr">
            <a:normAutofit fontScale="92500" lnSpcReduction="10000"/>
          </a:bodyPr>
          <a:lstStyle/>
          <a:p>
            <a:pPr marL="0" indent="0">
              <a:buNone/>
            </a:pPr>
            <a:r>
              <a:rPr lang="en-US" sz="1800" dirty="0">
                <a:solidFill>
                  <a:srgbClr val="102A43"/>
                </a:solidFill>
                <a:latin typeface="Aptos" pitchFamily="34" charset="0"/>
                <a:ea typeface="Aptos" pitchFamily="34" charset="-122"/>
                <a:cs typeface="Aptos" pitchFamily="34" charset="-120"/>
              </a:rPr>
              <a:t>In the DevOps ideal, small changes move through an automated pipeline quickly. The team receives fast feedback, fixes problems earlier, and can release when the business is ready.</a:t>
            </a:r>
            <a:endParaRPr lang="en-US" sz="1800" dirty="0"/>
          </a:p>
        </p:txBody>
      </p:sp>
      <p:sp>
        <p:nvSpPr>
          <p:cNvPr id="6" name="Shape 4"/>
          <p:cNvSpPr/>
          <p:nvPr/>
        </p:nvSpPr>
        <p:spPr>
          <a:xfrm>
            <a:off x="914400" y="3703320"/>
            <a:ext cx="5166360" cy="0"/>
          </a:xfrm>
          <a:prstGeom prst="line">
            <a:avLst/>
          </a:prstGeom>
          <a:noFill/>
          <a:ln w="25400">
            <a:solidFill>
              <a:srgbClr val="52606D"/>
            </a:solidFill>
            <a:prstDash val="solid"/>
            <a:tailEnd type="triangle"/>
          </a:ln>
        </p:spPr>
      </p:sp>
      <p:sp>
        <p:nvSpPr>
          <p:cNvPr id="7" name="Shape 5"/>
          <p:cNvSpPr/>
          <p:nvPr/>
        </p:nvSpPr>
        <p:spPr>
          <a:xfrm>
            <a:off x="914400" y="3364992"/>
            <a:ext cx="640080" cy="640080"/>
          </a:xfrm>
          <a:prstGeom prst="ellipse">
            <a:avLst/>
          </a:prstGeom>
          <a:solidFill>
            <a:srgbClr val="2E7D7B"/>
          </a:solidFill>
          <a:ln w="12700">
            <a:solidFill>
              <a:srgbClr val="FFFFFF"/>
            </a:solidFill>
            <a:prstDash val="solid"/>
          </a:ln>
        </p:spPr>
      </p:sp>
      <p:sp>
        <p:nvSpPr>
          <p:cNvPr id="8" name="Text 6"/>
          <p:cNvSpPr/>
          <p:nvPr/>
        </p:nvSpPr>
        <p:spPr>
          <a:xfrm>
            <a:off x="731520" y="4160520"/>
            <a:ext cx="1005840" cy="228600"/>
          </a:xfrm>
          <a:prstGeom prst="rect">
            <a:avLst/>
          </a:prstGeom>
          <a:noFill/>
          <a:ln/>
        </p:spPr>
        <p:txBody>
          <a:bodyPr wrap="square" lIns="508" tIns="508" rIns="508" bIns="508" rtlCol="0" anchor="ctr"/>
          <a:lstStyle/>
          <a:p>
            <a:pPr marL="0" indent="0" algn="ctr">
              <a:buNone/>
            </a:pPr>
            <a:r>
              <a:rPr lang="en-US" sz="1100" dirty="0">
                <a:solidFill>
                  <a:srgbClr val="102A43"/>
                </a:solidFill>
                <a:latin typeface="Aptos" pitchFamily="34" charset="0"/>
                <a:ea typeface="Aptos" pitchFamily="34" charset="-122"/>
                <a:cs typeface="Aptos" pitchFamily="34" charset="-120"/>
              </a:rPr>
              <a:t>Commit</a:t>
            </a:r>
            <a:endParaRPr lang="en-US" sz="1100" dirty="0"/>
          </a:p>
        </p:txBody>
      </p:sp>
      <p:sp>
        <p:nvSpPr>
          <p:cNvPr id="9" name="Shape 7"/>
          <p:cNvSpPr/>
          <p:nvPr/>
        </p:nvSpPr>
        <p:spPr>
          <a:xfrm>
            <a:off x="2148840" y="3364992"/>
            <a:ext cx="640080" cy="640080"/>
          </a:xfrm>
          <a:prstGeom prst="ellipse">
            <a:avLst/>
          </a:prstGeom>
          <a:solidFill>
            <a:srgbClr val="2E7D7B"/>
          </a:solidFill>
          <a:ln w="12700">
            <a:solidFill>
              <a:srgbClr val="FFFFFF"/>
            </a:solidFill>
            <a:prstDash val="solid"/>
          </a:ln>
        </p:spPr>
      </p:sp>
      <p:sp>
        <p:nvSpPr>
          <p:cNvPr id="10" name="Text 8"/>
          <p:cNvSpPr/>
          <p:nvPr/>
        </p:nvSpPr>
        <p:spPr>
          <a:xfrm>
            <a:off x="1965960" y="4160520"/>
            <a:ext cx="1005840" cy="228600"/>
          </a:xfrm>
          <a:prstGeom prst="rect">
            <a:avLst/>
          </a:prstGeom>
          <a:noFill/>
          <a:ln/>
        </p:spPr>
        <p:txBody>
          <a:bodyPr wrap="square" lIns="508" tIns="508" rIns="508" bIns="508" rtlCol="0" anchor="ctr"/>
          <a:lstStyle/>
          <a:p>
            <a:pPr marL="0" indent="0" algn="ctr">
              <a:buNone/>
            </a:pPr>
            <a:r>
              <a:rPr lang="en-US" sz="1100" dirty="0">
                <a:solidFill>
                  <a:srgbClr val="102A43"/>
                </a:solidFill>
                <a:latin typeface="Aptos" pitchFamily="34" charset="0"/>
                <a:ea typeface="Aptos" pitchFamily="34" charset="-122"/>
                <a:cs typeface="Aptos" pitchFamily="34" charset="-120"/>
              </a:rPr>
              <a:t>Build</a:t>
            </a:r>
            <a:endParaRPr lang="en-US" sz="1100" dirty="0"/>
          </a:p>
        </p:txBody>
      </p:sp>
      <p:sp>
        <p:nvSpPr>
          <p:cNvPr id="11" name="Shape 9"/>
          <p:cNvSpPr/>
          <p:nvPr/>
        </p:nvSpPr>
        <p:spPr>
          <a:xfrm>
            <a:off x="3383280" y="3364992"/>
            <a:ext cx="640080" cy="640080"/>
          </a:xfrm>
          <a:prstGeom prst="ellipse">
            <a:avLst/>
          </a:prstGeom>
          <a:solidFill>
            <a:srgbClr val="E9A23B"/>
          </a:solidFill>
          <a:ln w="12700">
            <a:solidFill>
              <a:srgbClr val="FFFFFF"/>
            </a:solidFill>
            <a:prstDash val="solid"/>
          </a:ln>
        </p:spPr>
      </p:sp>
      <p:sp>
        <p:nvSpPr>
          <p:cNvPr id="12" name="Text 10"/>
          <p:cNvSpPr/>
          <p:nvPr/>
        </p:nvSpPr>
        <p:spPr>
          <a:xfrm>
            <a:off x="3200400" y="4160520"/>
            <a:ext cx="1005840" cy="228600"/>
          </a:xfrm>
          <a:prstGeom prst="rect">
            <a:avLst/>
          </a:prstGeom>
          <a:noFill/>
          <a:ln/>
        </p:spPr>
        <p:txBody>
          <a:bodyPr wrap="square" lIns="508" tIns="508" rIns="508" bIns="508" rtlCol="0" anchor="ctr"/>
          <a:lstStyle/>
          <a:p>
            <a:pPr marL="0" indent="0" algn="ctr">
              <a:buNone/>
            </a:pPr>
            <a:r>
              <a:rPr lang="en-US" sz="1100" dirty="0">
                <a:solidFill>
                  <a:srgbClr val="102A43"/>
                </a:solidFill>
                <a:latin typeface="Aptos" pitchFamily="34" charset="0"/>
                <a:ea typeface="Aptos" pitchFamily="34" charset="-122"/>
                <a:cs typeface="Aptos" pitchFamily="34" charset="-120"/>
              </a:rPr>
              <a:t>Test</a:t>
            </a:r>
            <a:endParaRPr lang="en-US" sz="1100" dirty="0"/>
          </a:p>
        </p:txBody>
      </p:sp>
      <p:sp>
        <p:nvSpPr>
          <p:cNvPr id="13" name="Shape 11"/>
          <p:cNvSpPr/>
          <p:nvPr/>
        </p:nvSpPr>
        <p:spPr>
          <a:xfrm>
            <a:off x="4617720" y="3364992"/>
            <a:ext cx="640080" cy="640080"/>
          </a:xfrm>
          <a:prstGeom prst="ellipse">
            <a:avLst/>
          </a:prstGeom>
          <a:solidFill>
            <a:srgbClr val="D96C3B"/>
          </a:solidFill>
          <a:ln w="12700">
            <a:solidFill>
              <a:srgbClr val="FFFFFF"/>
            </a:solidFill>
            <a:prstDash val="solid"/>
          </a:ln>
        </p:spPr>
      </p:sp>
      <p:sp>
        <p:nvSpPr>
          <p:cNvPr id="14" name="Text 12"/>
          <p:cNvSpPr/>
          <p:nvPr/>
        </p:nvSpPr>
        <p:spPr>
          <a:xfrm>
            <a:off x="4434840" y="4160520"/>
            <a:ext cx="1005840" cy="228600"/>
          </a:xfrm>
          <a:prstGeom prst="rect">
            <a:avLst/>
          </a:prstGeom>
          <a:noFill/>
          <a:ln/>
        </p:spPr>
        <p:txBody>
          <a:bodyPr wrap="square" lIns="508" tIns="508" rIns="508" bIns="508" rtlCol="0" anchor="ctr"/>
          <a:lstStyle/>
          <a:p>
            <a:pPr marL="0" indent="0" algn="ctr">
              <a:buNone/>
            </a:pPr>
            <a:r>
              <a:rPr lang="en-US" sz="1100" dirty="0">
                <a:solidFill>
                  <a:srgbClr val="102A43"/>
                </a:solidFill>
                <a:latin typeface="Aptos" pitchFamily="34" charset="0"/>
                <a:ea typeface="Aptos" pitchFamily="34" charset="-122"/>
                <a:cs typeface="Aptos" pitchFamily="34" charset="-120"/>
              </a:rPr>
              <a:t>Deploy</a:t>
            </a:r>
            <a:endParaRPr lang="en-US" sz="1100" dirty="0"/>
          </a:p>
        </p:txBody>
      </p:sp>
      <p:sp>
        <p:nvSpPr>
          <p:cNvPr id="15" name="Shape 13"/>
          <p:cNvSpPr/>
          <p:nvPr/>
        </p:nvSpPr>
        <p:spPr>
          <a:xfrm>
            <a:off x="6949440" y="1417320"/>
            <a:ext cx="4160520" cy="3931920"/>
          </a:xfrm>
          <a:prstGeom prst="roundRect">
            <a:avLst>
              <a:gd name="adj" fmla="val 1860"/>
            </a:avLst>
          </a:prstGeom>
          <a:solidFill>
            <a:srgbClr val="FFFFFF"/>
          </a:solidFill>
          <a:ln w="12700">
            <a:solidFill>
              <a:srgbClr val="D9E2EC"/>
            </a:solidFill>
            <a:prstDash val="solid"/>
          </a:ln>
        </p:spPr>
      </p:sp>
      <p:sp>
        <p:nvSpPr>
          <p:cNvPr id="16" name="Text 14"/>
          <p:cNvSpPr/>
          <p:nvPr/>
        </p:nvSpPr>
        <p:spPr>
          <a:xfrm>
            <a:off x="7269480" y="1719072"/>
            <a:ext cx="3291840" cy="320040"/>
          </a:xfrm>
          <a:prstGeom prst="rect">
            <a:avLst/>
          </a:prstGeom>
          <a:noFill/>
          <a:ln/>
        </p:spPr>
        <p:txBody>
          <a:bodyPr wrap="square" lIns="508" tIns="508" rIns="508" bIns="508" rtlCol="0" anchor="ctr"/>
          <a:lstStyle/>
          <a:p>
            <a:pPr marL="0" indent="0" algn="ctr">
              <a:buNone/>
            </a:pPr>
            <a:r>
              <a:rPr lang="en-US" sz="2200" b="1" dirty="0">
                <a:solidFill>
                  <a:srgbClr val="20364A"/>
                </a:solidFill>
                <a:latin typeface="Aptos" pitchFamily="34" charset="0"/>
                <a:ea typeface="Aptos" pitchFamily="34" charset="-122"/>
                <a:cs typeface="Aptos" pitchFamily="34" charset="-120"/>
              </a:rPr>
              <a:t>What changes?</a:t>
            </a:r>
            <a:endParaRPr lang="en-US" sz="2200" dirty="0"/>
          </a:p>
        </p:txBody>
      </p:sp>
      <p:sp>
        <p:nvSpPr>
          <p:cNvPr id="17" name="Text 15"/>
          <p:cNvSpPr/>
          <p:nvPr/>
        </p:nvSpPr>
        <p:spPr>
          <a:xfrm>
            <a:off x="7452360" y="2331720"/>
            <a:ext cx="3291840" cy="228600"/>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 Smaller batches</a:t>
            </a:r>
            <a:endParaRPr lang="en-US" sz="1600" dirty="0"/>
          </a:p>
        </p:txBody>
      </p:sp>
      <p:sp>
        <p:nvSpPr>
          <p:cNvPr id="18" name="Text 16"/>
          <p:cNvSpPr/>
          <p:nvPr/>
        </p:nvSpPr>
        <p:spPr>
          <a:xfrm>
            <a:off x="7452360" y="2743200"/>
            <a:ext cx="3291840" cy="228600"/>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 Automated build and tests</a:t>
            </a:r>
            <a:endParaRPr lang="en-US" sz="1600" dirty="0"/>
          </a:p>
        </p:txBody>
      </p:sp>
      <p:sp>
        <p:nvSpPr>
          <p:cNvPr id="19" name="Text 17"/>
          <p:cNvSpPr/>
          <p:nvPr/>
        </p:nvSpPr>
        <p:spPr>
          <a:xfrm>
            <a:off x="7452360" y="3154680"/>
            <a:ext cx="3291840" cy="228600"/>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 Deployment pipeline</a:t>
            </a:r>
            <a:endParaRPr lang="en-US" sz="1600" dirty="0"/>
          </a:p>
        </p:txBody>
      </p:sp>
      <p:sp>
        <p:nvSpPr>
          <p:cNvPr id="20" name="Text 18"/>
          <p:cNvSpPr/>
          <p:nvPr/>
        </p:nvSpPr>
        <p:spPr>
          <a:xfrm>
            <a:off x="7452360" y="3566160"/>
            <a:ext cx="3291840" cy="228600"/>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 Shared ownership</a:t>
            </a:r>
            <a:endParaRPr lang="en-US" sz="1600" dirty="0"/>
          </a:p>
        </p:txBody>
      </p:sp>
      <p:sp>
        <p:nvSpPr>
          <p:cNvPr id="21" name="Text 19"/>
          <p:cNvSpPr/>
          <p:nvPr/>
        </p:nvSpPr>
        <p:spPr>
          <a:xfrm>
            <a:off x="7452360" y="3977640"/>
            <a:ext cx="3291840" cy="228600"/>
          </a:xfrm>
          <a:prstGeom prst="rect">
            <a:avLst/>
          </a:prstGeom>
          <a:noFill/>
          <a:ln/>
        </p:spPr>
        <p:txBody>
          <a:bodyPr wrap="square" lIns="508" tIns="508" rIns="508" bIns="508" rtlCol="0" anchor="ctr"/>
          <a:lstStyle/>
          <a:p>
            <a:pPr marL="0" indent="0">
              <a:buNone/>
            </a:pPr>
            <a:r>
              <a:rPr lang="en-US" sz="1600" dirty="0">
                <a:solidFill>
                  <a:srgbClr val="102A43"/>
                </a:solidFill>
                <a:latin typeface="Aptos" pitchFamily="34" charset="0"/>
                <a:ea typeface="Aptos" pitchFamily="34" charset="-122"/>
                <a:cs typeface="Aptos" pitchFamily="34" charset="-120"/>
              </a:rPr>
              <a:t>• Monitoring and fast feedback</a:t>
            </a:r>
            <a:endParaRPr lang="en-US" sz="1600" dirty="0"/>
          </a:p>
        </p:txBody>
      </p:sp>
      <p:sp>
        <p:nvSpPr>
          <p:cNvPr id="22" name="Text 20"/>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Sources: Kim et al., 2021, p. 10; DORA, n.d.; Fowler, 2013.</a:t>
            </a:r>
            <a:endParaRPr lang="en-US" sz="7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How Teams Move Toward the Ideal</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DevOps improves the system instead of only pushing individual workers harder</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Shape 3"/>
          <p:cNvSpPr/>
          <p:nvPr/>
        </p:nvSpPr>
        <p:spPr>
          <a:xfrm>
            <a:off x="731520" y="1600200"/>
            <a:ext cx="3108960" cy="1143000"/>
          </a:xfrm>
          <a:prstGeom prst="roundRect">
            <a:avLst>
              <a:gd name="adj" fmla="val 6400"/>
            </a:avLst>
          </a:prstGeom>
          <a:solidFill>
            <a:srgbClr val="DCEDEA"/>
          </a:solidFill>
          <a:ln w="12700">
            <a:solidFill>
              <a:srgbClr val="D9E2EC"/>
            </a:solidFill>
            <a:prstDash val="solid"/>
          </a:ln>
        </p:spPr>
      </p:sp>
      <p:sp>
        <p:nvSpPr>
          <p:cNvPr id="6" name="Text 4"/>
          <p:cNvSpPr/>
          <p:nvPr/>
        </p:nvSpPr>
        <p:spPr>
          <a:xfrm>
            <a:off x="896112" y="1737360"/>
            <a:ext cx="2788920" cy="228600"/>
          </a:xfrm>
          <a:prstGeom prst="rect">
            <a:avLst/>
          </a:prstGeom>
          <a:noFill/>
          <a:ln/>
        </p:spPr>
        <p:txBody>
          <a:bodyPr wrap="square" lIns="508" tIns="508" rIns="508" bIns="508" rtlCol="0" anchor="ctr">
            <a:normAutofit lnSpcReduction="10000"/>
          </a:bodyPr>
          <a:lstStyle/>
          <a:p>
            <a:pPr marL="0" indent="0">
              <a:buNone/>
            </a:pPr>
            <a:r>
              <a:rPr lang="en-US" sz="1550" b="1" dirty="0">
                <a:solidFill>
                  <a:srgbClr val="20364A"/>
                </a:solidFill>
                <a:latin typeface="Aptos" pitchFamily="34" charset="0"/>
                <a:ea typeface="Aptos" pitchFamily="34" charset="-122"/>
                <a:cs typeface="Aptos" pitchFamily="34" charset="-120"/>
              </a:rPr>
              <a:t>Make work visible</a:t>
            </a:r>
            <a:endParaRPr lang="en-US" sz="1550" dirty="0"/>
          </a:p>
        </p:txBody>
      </p:sp>
      <p:sp>
        <p:nvSpPr>
          <p:cNvPr id="7" name="Text 5"/>
          <p:cNvSpPr/>
          <p:nvPr/>
        </p:nvSpPr>
        <p:spPr>
          <a:xfrm>
            <a:off x="896112" y="2039112"/>
            <a:ext cx="2788920" cy="502920"/>
          </a:xfrm>
          <a:prstGeom prst="rect">
            <a:avLst/>
          </a:prstGeom>
          <a:noFill/>
          <a:ln/>
        </p:spPr>
        <p:txBody>
          <a:bodyPr wrap="square" lIns="508" tIns="508" rIns="508" bIns="508" rtlCol="0" anchor="ctr">
            <a:normAutofit lnSpcReduction="10000"/>
          </a:bodyPr>
          <a:lstStyle/>
          <a:p>
            <a:pPr marL="0" indent="0">
              <a:buNone/>
            </a:pPr>
            <a:r>
              <a:rPr lang="en-US" sz="1150" dirty="0">
                <a:solidFill>
                  <a:srgbClr val="102A43"/>
                </a:solidFill>
                <a:latin typeface="Aptos" pitchFamily="34" charset="0"/>
                <a:ea typeface="Aptos" pitchFamily="34" charset="-122"/>
                <a:cs typeface="Aptos" pitchFamily="34" charset="-120"/>
              </a:rPr>
              <a:t>Use boards, pipeline data, and value stream maps so the team can see where work waits.</a:t>
            </a:r>
            <a:endParaRPr lang="en-US" sz="1150" dirty="0"/>
          </a:p>
        </p:txBody>
      </p:sp>
      <p:sp>
        <p:nvSpPr>
          <p:cNvPr id="8" name="Shape 6"/>
          <p:cNvSpPr/>
          <p:nvPr/>
        </p:nvSpPr>
        <p:spPr>
          <a:xfrm>
            <a:off x="4389120" y="1600200"/>
            <a:ext cx="3108960" cy="1143000"/>
          </a:xfrm>
          <a:prstGeom prst="roundRect">
            <a:avLst>
              <a:gd name="adj" fmla="val 6400"/>
            </a:avLst>
          </a:prstGeom>
          <a:solidFill>
            <a:srgbClr val="FFFFFF"/>
          </a:solidFill>
          <a:ln w="12700">
            <a:solidFill>
              <a:srgbClr val="D9E2EC"/>
            </a:solidFill>
            <a:prstDash val="solid"/>
          </a:ln>
        </p:spPr>
      </p:sp>
      <p:sp>
        <p:nvSpPr>
          <p:cNvPr id="9" name="Text 7"/>
          <p:cNvSpPr/>
          <p:nvPr/>
        </p:nvSpPr>
        <p:spPr>
          <a:xfrm>
            <a:off x="4553712" y="1737360"/>
            <a:ext cx="2788920" cy="228600"/>
          </a:xfrm>
          <a:prstGeom prst="rect">
            <a:avLst/>
          </a:prstGeom>
          <a:noFill/>
          <a:ln/>
        </p:spPr>
        <p:txBody>
          <a:bodyPr wrap="square" lIns="508" tIns="508" rIns="508" bIns="508" rtlCol="0" anchor="ctr">
            <a:normAutofit lnSpcReduction="10000"/>
          </a:bodyPr>
          <a:lstStyle/>
          <a:p>
            <a:pPr marL="0" indent="0">
              <a:buNone/>
            </a:pPr>
            <a:r>
              <a:rPr lang="en-US" sz="1550" b="1" dirty="0">
                <a:solidFill>
                  <a:srgbClr val="20364A"/>
                </a:solidFill>
                <a:latin typeface="Aptos" pitchFamily="34" charset="0"/>
                <a:ea typeface="Aptos" pitchFamily="34" charset="-122"/>
                <a:cs typeface="Aptos" pitchFamily="34" charset="-120"/>
              </a:rPr>
              <a:t>Reduce batch size</a:t>
            </a:r>
            <a:endParaRPr lang="en-US" sz="1550" dirty="0"/>
          </a:p>
        </p:txBody>
      </p:sp>
      <p:sp>
        <p:nvSpPr>
          <p:cNvPr id="10" name="Text 8"/>
          <p:cNvSpPr/>
          <p:nvPr/>
        </p:nvSpPr>
        <p:spPr>
          <a:xfrm>
            <a:off x="4553712" y="2039112"/>
            <a:ext cx="2788920" cy="502920"/>
          </a:xfrm>
          <a:prstGeom prst="rect">
            <a:avLst/>
          </a:prstGeom>
          <a:noFill/>
          <a:ln/>
        </p:spPr>
        <p:txBody>
          <a:bodyPr wrap="square" lIns="508" tIns="508" rIns="508" bIns="508" rtlCol="0" anchor="ctr">
            <a:normAutofit lnSpcReduction="10000"/>
          </a:bodyPr>
          <a:lstStyle/>
          <a:p>
            <a:pPr marL="0" indent="0">
              <a:buNone/>
            </a:pPr>
            <a:r>
              <a:rPr lang="en-US" sz="1150" dirty="0">
                <a:solidFill>
                  <a:srgbClr val="102A43"/>
                </a:solidFill>
                <a:latin typeface="Aptos" pitchFamily="34" charset="0"/>
                <a:ea typeface="Aptos" pitchFamily="34" charset="-122"/>
                <a:cs typeface="Aptos" pitchFamily="34" charset="-120"/>
              </a:rPr>
              <a:t>Ship smaller changes more often so each release is easier to test, review, and recover from.</a:t>
            </a:r>
            <a:endParaRPr lang="en-US" sz="1150" dirty="0"/>
          </a:p>
        </p:txBody>
      </p:sp>
      <p:sp>
        <p:nvSpPr>
          <p:cNvPr id="11" name="Shape 9"/>
          <p:cNvSpPr/>
          <p:nvPr/>
        </p:nvSpPr>
        <p:spPr>
          <a:xfrm>
            <a:off x="8046720" y="1600200"/>
            <a:ext cx="3108960" cy="1143000"/>
          </a:xfrm>
          <a:prstGeom prst="roundRect">
            <a:avLst>
              <a:gd name="adj" fmla="val 6400"/>
            </a:avLst>
          </a:prstGeom>
          <a:solidFill>
            <a:srgbClr val="DCEDEA"/>
          </a:solidFill>
          <a:ln w="12700">
            <a:solidFill>
              <a:srgbClr val="D9E2EC"/>
            </a:solidFill>
            <a:prstDash val="solid"/>
          </a:ln>
        </p:spPr>
      </p:sp>
      <p:sp>
        <p:nvSpPr>
          <p:cNvPr id="12" name="Text 10"/>
          <p:cNvSpPr/>
          <p:nvPr/>
        </p:nvSpPr>
        <p:spPr>
          <a:xfrm>
            <a:off x="8211312" y="1737360"/>
            <a:ext cx="2788920" cy="228600"/>
          </a:xfrm>
          <a:prstGeom prst="rect">
            <a:avLst/>
          </a:prstGeom>
          <a:noFill/>
          <a:ln/>
        </p:spPr>
        <p:txBody>
          <a:bodyPr wrap="square" lIns="508" tIns="508" rIns="508" bIns="508" rtlCol="0" anchor="ctr">
            <a:normAutofit lnSpcReduction="10000"/>
          </a:bodyPr>
          <a:lstStyle/>
          <a:p>
            <a:pPr marL="0" indent="0">
              <a:buNone/>
            </a:pPr>
            <a:r>
              <a:rPr lang="en-US" sz="1550" b="1" dirty="0">
                <a:solidFill>
                  <a:srgbClr val="20364A"/>
                </a:solidFill>
                <a:latin typeface="Aptos" pitchFamily="34" charset="0"/>
                <a:ea typeface="Aptos" pitchFamily="34" charset="-122"/>
                <a:cs typeface="Aptos" pitchFamily="34" charset="-120"/>
              </a:rPr>
              <a:t>Automate repeatable work</a:t>
            </a:r>
            <a:endParaRPr lang="en-US" sz="1550" dirty="0"/>
          </a:p>
        </p:txBody>
      </p:sp>
      <p:sp>
        <p:nvSpPr>
          <p:cNvPr id="13" name="Text 11"/>
          <p:cNvSpPr/>
          <p:nvPr/>
        </p:nvSpPr>
        <p:spPr>
          <a:xfrm>
            <a:off x="8211312" y="2039112"/>
            <a:ext cx="2788920" cy="502920"/>
          </a:xfrm>
          <a:prstGeom prst="rect">
            <a:avLst/>
          </a:prstGeom>
          <a:noFill/>
          <a:ln/>
        </p:spPr>
        <p:txBody>
          <a:bodyPr wrap="square" lIns="508" tIns="508" rIns="508" bIns="508" rtlCol="0" anchor="ctr">
            <a:normAutofit lnSpcReduction="10000"/>
          </a:bodyPr>
          <a:lstStyle/>
          <a:p>
            <a:pPr marL="0" indent="0">
              <a:buNone/>
            </a:pPr>
            <a:r>
              <a:rPr lang="en-US" sz="1150" dirty="0">
                <a:solidFill>
                  <a:srgbClr val="102A43"/>
                </a:solidFill>
                <a:latin typeface="Aptos" pitchFamily="34" charset="0"/>
                <a:ea typeface="Aptos" pitchFamily="34" charset="-122"/>
                <a:cs typeface="Aptos" pitchFamily="34" charset="-120"/>
              </a:rPr>
              <a:t>Automate builds, tests, environment creation, and deployment steps where possible.</a:t>
            </a:r>
            <a:endParaRPr lang="en-US" sz="1150" dirty="0"/>
          </a:p>
        </p:txBody>
      </p:sp>
      <p:sp>
        <p:nvSpPr>
          <p:cNvPr id="14" name="Shape 12"/>
          <p:cNvSpPr/>
          <p:nvPr/>
        </p:nvSpPr>
        <p:spPr>
          <a:xfrm>
            <a:off x="2560320" y="3977640"/>
            <a:ext cx="3108960" cy="1143000"/>
          </a:xfrm>
          <a:prstGeom prst="roundRect">
            <a:avLst>
              <a:gd name="adj" fmla="val 6400"/>
            </a:avLst>
          </a:prstGeom>
          <a:solidFill>
            <a:srgbClr val="FFFFFF"/>
          </a:solidFill>
          <a:ln w="12700">
            <a:solidFill>
              <a:srgbClr val="D9E2EC"/>
            </a:solidFill>
            <a:prstDash val="solid"/>
          </a:ln>
        </p:spPr>
      </p:sp>
      <p:sp>
        <p:nvSpPr>
          <p:cNvPr id="15" name="Text 13"/>
          <p:cNvSpPr/>
          <p:nvPr/>
        </p:nvSpPr>
        <p:spPr>
          <a:xfrm>
            <a:off x="2724912" y="4114800"/>
            <a:ext cx="2788920" cy="228600"/>
          </a:xfrm>
          <a:prstGeom prst="rect">
            <a:avLst/>
          </a:prstGeom>
          <a:noFill/>
          <a:ln/>
        </p:spPr>
        <p:txBody>
          <a:bodyPr wrap="square" lIns="508" tIns="508" rIns="508" bIns="508" rtlCol="0" anchor="ctr">
            <a:normAutofit lnSpcReduction="10000"/>
          </a:bodyPr>
          <a:lstStyle/>
          <a:p>
            <a:pPr marL="0" indent="0">
              <a:buNone/>
            </a:pPr>
            <a:r>
              <a:rPr lang="en-US" sz="1550" b="1" dirty="0">
                <a:solidFill>
                  <a:srgbClr val="20364A"/>
                </a:solidFill>
                <a:latin typeface="Aptos" pitchFamily="34" charset="0"/>
                <a:ea typeface="Aptos" pitchFamily="34" charset="-122"/>
                <a:cs typeface="Aptos" pitchFamily="34" charset="-120"/>
              </a:rPr>
              <a:t>Build quality in</a:t>
            </a:r>
            <a:endParaRPr lang="en-US" sz="1550" dirty="0"/>
          </a:p>
        </p:txBody>
      </p:sp>
      <p:sp>
        <p:nvSpPr>
          <p:cNvPr id="16" name="Text 14"/>
          <p:cNvSpPr/>
          <p:nvPr/>
        </p:nvSpPr>
        <p:spPr>
          <a:xfrm>
            <a:off x="2724912" y="4416552"/>
            <a:ext cx="2788920" cy="502920"/>
          </a:xfrm>
          <a:prstGeom prst="rect">
            <a:avLst/>
          </a:prstGeom>
          <a:noFill/>
          <a:ln/>
        </p:spPr>
        <p:txBody>
          <a:bodyPr wrap="square" lIns="508" tIns="508" rIns="508" bIns="508" rtlCol="0" anchor="ctr">
            <a:normAutofit lnSpcReduction="10000"/>
          </a:bodyPr>
          <a:lstStyle/>
          <a:p>
            <a:pPr marL="0" indent="0">
              <a:buNone/>
            </a:pPr>
            <a:r>
              <a:rPr lang="en-US" sz="1150" dirty="0">
                <a:solidFill>
                  <a:srgbClr val="102A43"/>
                </a:solidFill>
                <a:latin typeface="Aptos" pitchFamily="34" charset="0"/>
                <a:ea typeface="Aptos" pitchFamily="34" charset="-122"/>
                <a:cs typeface="Aptos" pitchFamily="34" charset="-120"/>
              </a:rPr>
              <a:t>Find defects earlier through reviews, automated tests, and production-like environments.</a:t>
            </a:r>
            <a:endParaRPr lang="en-US" sz="1150" dirty="0"/>
          </a:p>
        </p:txBody>
      </p:sp>
      <p:sp>
        <p:nvSpPr>
          <p:cNvPr id="17" name="Shape 15"/>
          <p:cNvSpPr/>
          <p:nvPr/>
        </p:nvSpPr>
        <p:spPr>
          <a:xfrm>
            <a:off x="6217920" y="3977640"/>
            <a:ext cx="3108960" cy="1143000"/>
          </a:xfrm>
          <a:prstGeom prst="roundRect">
            <a:avLst>
              <a:gd name="adj" fmla="val 6400"/>
            </a:avLst>
          </a:prstGeom>
          <a:solidFill>
            <a:srgbClr val="DCEDEA"/>
          </a:solidFill>
          <a:ln w="12700">
            <a:solidFill>
              <a:srgbClr val="D9E2EC"/>
            </a:solidFill>
            <a:prstDash val="solid"/>
          </a:ln>
        </p:spPr>
      </p:sp>
      <p:sp>
        <p:nvSpPr>
          <p:cNvPr id="18" name="Text 16"/>
          <p:cNvSpPr/>
          <p:nvPr/>
        </p:nvSpPr>
        <p:spPr>
          <a:xfrm>
            <a:off x="6382512" y="4114800"/>
            <a:ext cx="2788920" cy="228600"/>
          </a:xfrm>
          <a:prstGeom prst="rect">
            <a:avLst/>
          </a:prstGeom>
          <a:noFill/>
          <a:ln/>
        </p:spPr>
        <p:txBody>
          <a:bodyPr wrap="square" lIns="508" tIns="508" rIns="508" bIns="508" rtlCol="0" anchor="ctr">
            <a:normAutofit lnSpcReduction="10000"/>
          </a:bodyPr>
          <a:lstStyle/>
          <a:p>
            <a:pPr marL="0" indent="0">
              <a:buNone/>
            </a:pPr>
            <a:r>
              <a:rPr lang="en-US" sz="1550" b="1" dirty="0">
                <a:solidFill>
                  <a:srgbClr val="20364A"/>
                </a:solidFill>
                <a:latin typeface="Aptos" pitchFamily="34" charset="0"/>
                <a:ea typeface="Aptos" pitchFamily="34" charset="-122"/>
                <a:cs typeface="Aptos" pitchFamily="34" charset="-120"/>
              </a:rPr>
              <a:t>Use feedback loops</a:t>
            </a:r>
            <a:endParaRPr lang="en-US" sz="1550" dirty="0"/>
          </a:p>
        </p:txBody>
      </p:sp>
      <p:sp>
        <p:nvSpPr>
          <p:cNvPr id="19" name="Text 17"/>
          <p:cNvSpPr/>
          <p:nvPr/>
        </p:nvSpPr>
        <p:spPr>
          <a:xfrm>
            <a:off x="6382512" y="4416552"/>
            <a:ext cx="2788920" cy="502920"/>
          </a:xfrm>
          <a:prstGeom prst="rect">
            <a:avLst/>
          </a:prstGeom>
          <a:noFill/>
          <a:ln/>
        </p:spPr>
        <p:txBody>
          <a:bodyPr wrap="square" lIns="508" tIns="508" rIns="508" bIns="508" rtlCol="0" anchor="ctr">
            <a:normAutofit/>
          </a:bodyPr>
          <a:lstStyle/>
          <a:p>
            <a:pPr marL="0" indent="0">
              <a:buNone/>
            </a:pPr>
            <a:r>
              <a:rPr lang="en-US" sz="1150" dirty="0">
                <a:solidFill>
                  <a:srgbClr val="102A43"/>
                </a:solidFill>
                <a:latin typeface="Aptos" pitchFamily="34" charset="0"/>
                <a:ea typeface="Aptos" pitchFamily="34" charset="-122"/>
                <a:cs typeface="Aptos" pitchFamily="34" charset="-120"/>
              </a:rPr>
              <a:t>Monitor production and use data from failures or delays to improve the process.</a:t>
            </a:r>
            <a:endParaRPr lang="en-US" sz="1150" dirty="0"/>
          </a:p>
        </p:txBody>
      </p:sp>
      <p:sp>
        <p:nvSpPr>
          <p:cNvPr id="20" name="Text 18"/>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Sources: Kim et al., 2021; Fowler, 2013; DORA, n.d.</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Main Takeaways</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Technology value streams show how software delivery actually works</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Text 3"/>
          <p:cNvSpPr/>
          <p:nvPr/>
        </p:nvSpPr>
        <p:spPr>
          <a:xfrm>
            <a:off x="777240" y="1508760"/>
            <a:ext cx="10332720" cy="411480"/>
          </a:xfrm>
          <a:prstGeom prst="rect">
            <a:avLst/>
          </a:prstGeom>
          <a:noFill/>
          <a:ln/>
        </p:spPr>
        <p:txBody>
          <a:bodyPr wrap="square" lIns="508" tIns="508" rIns="508" bIns="508" rtlCol="0" anchor="ctr"/>
          <a:lstStyle/>
          <a:p>
            <a:pPr marL="0" indent="0">
              <a:buNone/>
            </a:pPr>
            <a:r>
              <a:rPr lang="en-US" sz="1900" dirty="0">
                <a:solidFill>
                  <a:srgbClr val="102A43"/>
                </a:solidFill>
                <a:latin typeface="Aptos" pitchFamily="34" charset="0"/>
                <a:ea typeface="Aptos" pitchFamily="34" charset="-122"/>
                <a:cs typeface="Aptos" pitchFamily="34" charset="-120"/>
              </a:rPr>
              <a:t>1. Lead time is what the customer or business experiences: the total time from request to delivery.</a:t>
            </a:r>
            <a:endParaRPr lang="en-US" sz="1900" dirty="0"/>
          </a:p>
        </p:txBody>
      </p:sp>
      <p:sp>
        <p:nvSpPr>
          <p:cNvPr id="6" name="Text 4"/>
          <p:cNvSpPr/>
          <p:nvPr/>
        </p:nvSpPr>
        <p:spPr>
          <a:xfrm>
            <a:off x="777240" y="2148840"/>
            <a:ext cx="10332720" cy="411480"/>
          </a:xfrm>
          <a:prstGeom prst="rect">
            <a:avLst/>
          </a:prstGeom>
          <a:noFill/>
          <a:ln/>
        </p:spPr>
        <p:txBody>
          <a:bodyPr wrap="square" lIns="508" tIns="508" rIns="508" bIns="508" rtlCol="0" anchor="ctr"/>
          <a:lstStyle/>
          <a:p>
            <a:pPr marL="0" indent="0">
              <a:buNone/>
            </a:pPr>
            <a:r>
              <a:rPr lang="en-US" sz="1900" dirty="0">
                <a:solidFill>
                  <a:srgbClr val="102A43"/>
                </a:solidFill>
                <a:latin typeface="Aptos" pitchFamily="34" charset="0"/>
                <a:ea typeface="Aptos" pitchFamily="34" charset="-122"/>
                <a:cs typeface="Aptos" pitchFamily="34" charset="-120"/>
              </a:rPr>
              <a:t>2. Processing time is only the active work time, which is often much smaller than the total lead time.</a:t>
            </a:r>
            <a:endParaRPr lang="en-US" sz="1900" dirty="0"/>
          </a:p>
        </p:txBody>
      </p:sp>
      <p:sp>
        <p:nvSpPr>
          <p:cNvPr id="7" name="Text 5"/>
          <p:cNvSpPr/>
          <p:nvPr/>
        </p:nvSpPr>
        <p:spPr>
          <a:xfrm>
            <a:off x="777240" y="2788920"/>
            <a:ext cx="10332720" cy="411480"/>
          </a:xfrm>
          <a:prstGeom prst="rect">
            <a:avLst/>
          </a:prstGeom>
          <a:noFill/>
          <a:ln/>
        </p:spPr>
        <p:txBody>
          <a:bodyPr wrap="square" lIns="508" tIns="508" rIns="508" bIns="508" rtlCol="0" anchor="ctr"/>
          <a:lstStyle/>
          <a:p>
            <a:pPr marL="0" indent="0">
              <a:buNone/>
            </a:pPr>
            <a:r>
              <a:rPr lang="en-US" sz="1900" dirty="0">
                <a:solidFill>
                  <a:srgbClr val="102A43"/>
                </a:solidFill>
                <a:latin typeface="Aptos" pitchFamily="34" charset="0"/>
                <a:ea typeface="Aptos" pitchFamily="34" charset="-122"/>
                <a:cs typeface="Aptos" pitchFamily="34" charset="-120"/>
              </a:rPr>
              <a:t>3. Month-long deployment lead times usually come from queues, handoffs, manual work, large batches, and late feedback.</a:t>
            </a:r>
            <a:endParaRPr lang="en-US" sz="1900" dirty="0"/>
          </a:p>
        </p:txBody>
      </p:sp>
      <p:sp>
        <p:nvSpPr>
          <p:cNvPr id="8" name="Text 6"/>
          <p:cNvSpPr/>
          <p:nvPr/>
        </p:nvSpPr>
        <p:spPr>
          <a:xfrm>
            <a:off x="777240" y="3429000"/>
            <a:ext cx="10332720" cy="621792"/>
          </a:xfrm>
          <a:prstGeom prst="rect">
            <a:avLst/>
          </a:prstGeom>
          <a:noFill/>
          <a:ln/>
        </p:spPr>
        <p:txBody>
          <a:bodyPr wrap="square" lIns="508" tIns="508" rIns="508" bIns="508" rtlCol="0" anchor="ctr">
            <a:normAutofit/>
          </a:bodyPr>
          <a:lstStyle/>
          <a:p>
            <a:pPr marL="0" indent="0">
              <a:buNone/>
            </a:pPr>
            <a:r>
              <a:rPr lang="en-US" sz="1900" dirty="0">
                <a:solidFill>
                  <a:srgbClr val="102A43"/>
                </a:solidFill>
                <a:latin typeface="Aptos" pitchFamily="34" charset="0"/>
                <a:ea typeface="Aptos" pitchFamily="34" charset="-122"/>
                <a:cs typeface="Aptos" pitchFamily="34" charset="-120"/>
              </a:rPr>
              <a:t>4. The DevOps ideal is not reckless speed. It is fast, controlled flow supported by automation, small changes, shared responsibility, and continuous feedback.</a:t>
            </a:r>
            <a:endParaRPr lang="en-US" sz="1900" dirty="0"/>
          </a:p>
        </p:txBody>
      </p:sp>
      <p:sp>
        <p:nvSpPr>
          <p:cNvPr id="9" name="Shape 7"/>
          <p:cNvSpPr/>
          <p:nvPr/>
        </p:nvSpPr>
        <p:spPr>
          <a:xfrm>
            <a:off x="1874520" y="4800600"/>
            <a:ext cx="8412480" cy="594360"/>
          </a:xfrm>
          <a:prstGeom prst="roundRect">
            <a:avLst>
              <a:gd name="adj" fmla="val 12308"/>
            </a:avLst>
          </a:prstGeom>
          <a:solidFill>
            <a:srgbClr val="20364A"/>
          </a:solidFill>
          <a:ln w="12700">
            <a:solidFill>
              <a:srgbClr val="20364A"/>
            </a:solidFill>
            <a:prstDash val="solid"/>
          </a:ln>
        </p:spPr>
      </p:sp>
      <p:sp>
        <p:nvSpPr>
          <p:cNvPr id="10" name="Text 8"/>
          <p:cNvSpPr/>
          <p:nvPr/>
        </p:nvSpPr>
        <p:spPr>
          <a:xfrm>
            <a:off x="2103120" y="4974336"/>
            <a:ext cx="7955280" cy="228600"/>
          </a:xfrm>
          <a:prstGeom prst="rect">
            <a:avLst/>
          </a:prstGeom>
          <a:noFill/>
          <a:ln/>
        </p:spPr>
        <p:txBody>
          <a:bodyPr wrap="square" lIns="508" tIns="508" rIns="508" bIns="508" rtlCol="0" anchor="ctr"/>
          <a:lstStyle/>
          <a:p>
            <a:pPr marL="0" indent="0" algn="ctr">
              <a:buNone/>
            </a:pPr>
            <a:r>
              <a:rPr lang="en-US" sz="1800" b="1" dirty="0">
                <a:solidFill>
                  <a:srgbClr val="FFFFFF"/>
                </a:solidFill>
                <a:latin typeface="Aptos" pitchFamily="34" charset="0"/>
                <a:ea typeface="Aptos" pitchFamily="34" charset="-122"/>
                <a:cs typeface="Aptos" pitchFamily="34" charset="-120"/>
              </a:rPr>
              <a:t>Better flow means customers receive value faster and teams learn sooner.</a:t>
            </a:r>
            <a:endParaRPr lang="en-US" sz="1800" dirty="0"/>
          </a:p>
        </p:txBody>
      </p:sp>
      <p:sp>
        <p:nvSpPr>
          <p:cNvPr id="11" name="Text 9"/>
          <p:cNvSpPr/>
          <p:nvPr/>
        </p:nvSpPr>
        <p:spPr>
          <a:xfrm>
            <a:off x="502920" y="6528816"/>
            <a:ext cx="11155680" cy="201168"/>
          </a:xfrm>
          <a:prstGeom prst="rect">
            <a:avLst/>
          </a:prstGeom>
          <a:noFill/>
          <a:ln/>
        </p:spPr>
        <p:txBody>
          <a:bodyPr wrap="square" lIns="508" tIns="508" rIns="508" bIns="508" rtlCol="0" anchor="ctr">
            <a:normAutofit/>
          </a:bodyPr>
          <a:lstStyle/>
          <a:p>
            <a:pPr marL="0" indent="0">
              <a:buNone/>
            </a:pPr>
            <a:r>
              <a:rPr lang="en-US" sz="780" dirty="0">
                <a:solidFill>
                  <a:srgbClr val="52606D"/>
                </a:solidFill>
                <a:latin typeface="Aptos" pitchFamily="34" charset="0"/>
                <a:ea typeface="Aptos" pitchFamily="34" charset="-122"/>
                <a:cs typeface="Aptos" pitchFamily="34" charset="-120"/>
              </a:rPr>
              <a:t>Sources: Kim et al., 2021; DORA, n.d.</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502920" y="320040"/>
            <a:ext cx="10698480" cy="502920"/>
          </a:xfrm>
          <a:prstGeom prst="rect">
            <a:avLst/>
          </a:prstGeom>
          <a:noFill/>
          <a:ln/>
        </p:spPr>
        <p:txBody>
          <a:bodyPr wrap="square" lIns="508" tIns="508" rIns="508" bIns="508" rtlCol="0" anchor="ctr">
            <a:normAutofit/>
          </a:bodyPr>
          <a:lstStyle/>
          <a:p>
            <a:pPr marL="0" indent="0">
              <a:buNone/>
            </a:pPr>
            <a:r>
              <a:rPr lang="en-US" sz="2300" b="1" dirty="0">
                <a:solidFill>
                  <a:srgbClr val="20364A"/>
                </a:solidFill>
                <a:latin typeface="Aptos Display" pitchFamily="34" charset="0"/>
                <a:ea typeface="Aptos Display" pitchFamily="34" charset="-122"/>
                <a:cs typeface="Aptos Display" pitchFamily="34" charset="-120"/>
              </a:rPr>
              <a:t>References</a:t>
            </a:r>
            <a:endParaRPr lang="en-US" sz="2300" dirty="0"/>
          </a:p>
        </p:txBody>
      </p:sp>
      <p:sp>
        <p:nvSpPr>
          <p:cNvPr id="3" name="Text 1"/>
          <p:cNvSpPr/>
          <p:nvPr/>
        </p:nvSpPr>
        <p:spPr>
          <a:xfrm>
            <a:off x="530352" y="877824"/>
            <a:ext cx="7040880" cy="292608"/>
          </a:xfrm>
          <a:prstGeom prst="rect">
            <a:avLst/>
          </a:prstGeom>
          <a:noFill/>
          <a:ln/>
        </p:spPr>
        <p:txBody>
          <a:bodyPr wrap="square" lIns="508" tIns="508" rIns="508" bIns="508" rtlCol="0" anchor="ctr"/>
          <a:lstStyle/>
          <a:p>
            <a:pPr marL="0" indent="0">
              <a:buNone/>
            </a:pPr>
            <a:r>
              <a:rPr lang="en-US" sz="1250" dirty="0">
                <a:solidFill>
                  <a:srgbClr val="52606D"/>
                </a:solidFill>
                <a:latin typeface="Aptos" pitchFamily="34" charset="0"/>
                <a:ea typeface="Aptos" pitchFamily="34" charset="-122"/>
                <a:cs typeface="Aptos" pitchFamily="34" charset="-120"/>
              </a:rPr>
              <a:t>Sources used in this presentation</a:t>
            </a:r>
            <a:endParaRPr lang="en-US" sz="1250" dirty="0"/>
          </a:p>
        </p:txBody>
      </p:sp>
      <p:sp>
        <p:nvSpPr>
          <p:cNvPr id="4" name="Shape 2"/>
          <p:cNvSpPr/>
          <p:nvPr/>
        </p:nvSpPr>
        <p:spPr>
          <a:xfrm>
            <a:off x="502920" y="1216152"/>
            <a:ext cx="11155680" cy="0"/>
          </a:xfrm>
          <a:prstGeom prst="line">
            <a:avLst/>
          </a:prstGeom>
          <a:noFill/>
          <a:ln w="12700">
            <a:solidFill>
              <a:srgbClr val="D9E2EC"/>
            </a:solidFill>
            <a:prstDash val="solid"/>
          </a:ln>
        </p:spPr>
      </p:sp>
      <p:sp>
        <p:nvSpPr>
          <p:cNvPr id="5" name="Text 3"/>
          <p:cNvSpPr/>
          <p:nvPr/>
        </p:nvSpPr>
        <p:spPr>
          <a:xfrm>
            <a:off x="777240" y="1508760"/>
            <a:ext cx="10789920" cy="438912"/>
          </a:xfrm>
          <a:prstGeom prst="rect">
            <a:avLst/>
          </a:prstGeom>
          <a:noFill/>
          <a:ln/>
        </p:spPr>
        <p:txBody>
          <a:bodyPr wrap="square" lIns="508" tIns="508" rIns="508" bIns="508" rtlCol="0" anchor="ctr">
            <a:normAutofit/>
          </a:bodyPr>
          <a:lstStyle/>
          <a:p>
            <a:pPr marL="0" indent="0">
              <a:buNone/>
            </a:pPr>
            <a:r>
              <a:rPr lang="en-US" sz="1550" dirty="0">
                <a:solidFill>
                  <a:srgbClr val="102A43"/>
                </a:solidFill>
                <a:latin typeface="Aptos" pitchFamily="34" charset="0"/>
                <a:ea typeface="Aptos" pitchFamily="34" charset="-122"/>
                <a:cs typeface="Aptos" pitchFamily="34" charset="-120"/>
              </a:rPr>
              <a:t>DORA. (n.d.). DORA’s software delivery performance metrics. https://dora.dev/guides/dora-metrics/</a:t>
            </a:r>
            <a:endParaRPr lang="en-US" sz="1550" dirty="0"/>
          </a:p>
        </p:txBody>
      </p:sp>
      <p:sp>
        <p:nvSpPr>
          <p:cNvPr id="6" name="Text 4"/>
          <p:cNvSpPr/>
          <p:nvPr/>
        </p:nvSpPr>
        <p:spPr>
          <a:xfrm>
            <a:off x="777240" y="2167128"/>
            <a:ext cx="10789920" cy="438912"/>
          </a:xfrm>
          <a:prstGeom prst="rect">
            <a:avLst/>
          </a:prstGeom>
          <a:noFill/>
          <a:ln/>
        </p:spPr>
        <p:txBody>
          <a:bodyPr wrap="square" lIns="508" tIns="508" rIns="508" bIns="508" rtlCol="0" anchor="ctr">
            <a:normAutofit/>
          </a:bodyPr>
          <a:lstStyle/>
          <a:p>
            <a:pPr marL="0" indent="0">
              <a:buNone/>
            </a:pPr>
            <a:r>
              <a:rPr lang="en-US" sz="1550" dirty="0">
                <a:solidFill>
                  <a:srgbClr val="102A43"/>
                </a:solidFill>
                <a:latin typeface="Aptos" pitchFamily="34" charset="0"/>
                <a:ea typeface="Aptos" pitchFamily="34" charset="-122"/>
                <a:cs typeface="Aptos" pitchFamily="34" charset="-120"/>
              </a:rPr>
              <a:t>Fowler, M. (2013). Continuous delivery. https://martinfowler.com/bliki/ContinuousDelivery.html</a:t>
            </a:r>
            <a:endParaRPr lang="en-US" sz="1550" dirty="0"/>
          </a:p>
        </p:txBody>
      </p:sp>
      <p:sp>
        <p:nvSpPr>
          <p:cNvPr id="7" name="Text 5"/>
          <p:cNvSpPr/>
          <p:nvPr/>
        </p:nvSpPr>
        <p:spPr>
          <a:xfrm>
            <a:off x="777240" y="2825496"/>
            <a:ext cx="10789920" cy="438912"/>
          </a:xfrm>
          <a:prstGeom prst="rect">
            <a:avLst/>
          </a:prstGeom>
          <a:noFill/>
          <a:ln/>
        </p:spPr>
        <p:txBody>
          <a:bodyPr wrap="square" lIns="508" tIns="508" rIns="508" bIns="508" rtlCol="0" anchor="ctr">
            <a:normAutofit lnSpcReduction="10000"/>
          </a:bodyPr>
          <a:lstStyle/>
          <a:p>
            <a:pPr marL="0" indent="0">
              <a:buNone/>
            </a:pPr>
            <a:r>
              <a:rPr lang="en-US" sz="1550" dirty="0">
                <a:solidFill>
                  <a:srgbClr val="102A43"/>
                </a:solidFill>
                <a:latin typeface="Aptos" pitchFamily="34" charset="0"/>
                <a:ea typeface="Aptos" pitchFamily="34" charset="-122"/>
                <a:cs typeface="Aptos" pitchFamily="34" charset="-120"/>
              </a:rPr>
              <a:t>IT Revolution. (n.d.). The DevOps Handbook excerpt. https://images.itrevolution.com/documents/DevOps_Handbook_Intro_Part1_Part2.pdf</a:t>
            </a:r>
            <a:endParaRPr lang="en-US" sz="1550" dirty="0"/>
          </a:p>
        </p:txBody>
      </p:sp>
      <p:sp>
        <p:nvSpPr>
          <p:cNvPr id="8" name="Text 6"/>
          <p:cNvSpPr/>
          <p:nvPr/>
        </p:nvSpPr>
        <p:spPr>
          <a:xfrm>
            <a:off x="777240" y="3593593"/>
            <a:ext cx="10789920" cy="438912"/>
          </a:xfrm>
          <a:prstGeom prst="rect">
            <a:avLst/>
          </a:prstGeom>
          <a:noFill/>
          <a:ln/>
        </p:spPr>
        <p:txBody>
          <a:bodyPr wrap="square" lIns="508" tIns="508" rIns="508" bIns="508" rtlCol="0" anchor="ctr">
            <a:normAutofit lnSpcReduction="10000"/>
          </a:bodyPr>
          <a:lstStyle/>
          <a:p>
            <a:pPr marL="0" indent="0">
              <a:buNone/>
            </a:pPr>
            <a:r>
              <a:rPr lang="en-US" sz="1550" dirty="0">
                <a:solidFill>
                  <a:srgbClr val="102A43"/>
                </a:solidFill>
                <a:latin typeface="Aptos" pitchFamily="34" charset="0"/>
                <a:ea typeface="Aptos" pitchFamily="34" charset="-122"/>
                <a:cs typeface="Aptos" pitchFamily="34" charset="-120"/>
              </a:rPr>
              <a:t>Kim, G., Humble, J., Debois, P., Willis, J., &amp; Forsgren, N. (2021). The DevOps handbook: How to create world-class agility, reliability, &amp; security in technology organizations (2nd ed.). IT Revolution.</a:t>
            </a:r>
            <a:endParaRPr lang="en-US" sz="1550" dirty="0"/>
          </a:p>
        </p:txBody>
      </p:sp>
      <p:sp>
        <p:nvSpPr>
          <p:cNvPr id="9" name="Text 7"/>
          <p:cNvSpPr/>
          <p:nvPr/>
        </p:nvSpPr>
        <p:spPr>
          <a:xfrm>
            <a:off x="777240" y="5166360"/>
            <a:ext cx="10515600" cy="548640"/>
          </a:xfrm>
          <a:prstGeom prst="rect">
            <a:avLst/>
          </a:prstGeom>
          <a:noFill/>
          <a:ln/>
        </p:spPr>
        <p:txBody>
          <a:bodyPr wrap="square" lIns="508" tIns="508" rIns="508" bIns="508" rtlCol="0" anchor="ctr">
            <a:normAutofit/>
          </a:bodyPr>
          <a:lstStyle/>
          <a:p>
            <a:pPr marL="0" indent="0">
              <a:buNone/>
            </a:pPr>
            <a:r>
              <a:rPr lang="en-US" sz="1400" i="1" dirty="0">
                <a:solidFill>
                  <a:srgbClr val="52606D"/>
                </a:solidFill>
                <a:latin typeface="Aptos" pitchFamily="34" charset="0"/>
                <a:ea typeface="Aptos" pitchFamily="34" charset="-122"/>
                <a:cs typeface="Aptos" pitchFamily="34" charset="-120"/>
              </a:rPr>
              <a:t>Note: Course textbook pages 9–10 are addressed through the lead time / processing time explanation, the months-long deployment scenario, and the minutes-long DevOps ideal.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1024</Words>
  <Application>Microsoft Office PowerPoint</Application>
  <PresentationFormat>Widescreen</PresentationFormat>
  <Paragraphs>115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Bellevue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Technology Value Stream</dc:title>
  <dc:subject>CSD380 Module 1.2 Assignment</dc:subject>
  <dc:creator>Zak Nizam</dc:creator>
  <cp:lastModifiedBy>Zak Nizam</cp:lastModifiedBy>
  <cp:revision>3</cp:revision>
  <dcterms:created xsi:type="dcterms:W3CDTF">2026-06-11T18:15:35Z</dcterms:created>
  <dcterms:modified xsi:type="dcterms:W3CDTF">2026-06-11T19:00:55Z</dcterms:modified>
</cp:coreProperties>
</file>